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media/image2.jpe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media/image3.jpeg" ContentType="image/jpeg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5" name="Shape 13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hape 23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1" name="Shape 23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Les entreprises en général sont en constante recherche d’augmentation de leur bénéfices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Shape 29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97" name="Shape 29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Les entreprises en général sont en constante recherche d’augmentation de leur bénéfices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Shape 35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59" name="Shape 35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Les entreprises en général sont en constante recherche d’augmentation de leur bénéfices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39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91" name="Shape 39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Les entreprises en général sont en constante recherche d’augmentation de leur bénéfices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Shape 42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24" name="Shape 42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Les entreprises en général sont en constante recherche d’augmentation de leur bénéfices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Shape 44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49" name="Shape 44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Les entreprises en général sont en constante recherche d’augmentation de leur bénéfices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Shape 45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59" name="Shape 45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Les entreprises en général sont en constante recherche d’augmentation de leur bénéfices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Shape 47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77" name="Shape 47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Les entreprises en général sont en constante recherche d’augmentation de leur bénéfices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Shape 49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95" name="Shape 49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Les entreprises en général sont en constante recherche d’augmentation de leur bénéfices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Shape 52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25" name="Shape 52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Les entreprises en général sont en constante recherche d’augmentation de leur bénéfices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Shape 53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35" name="Shape 53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Les entreprises en général sont en constante recherche d’augmentation de leur bénéfices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Shape 55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56" name="Shape 55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Les entreprises en général sont en constante recherche d’augmentation de leur bénéfices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69" name="Shape 56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Les entreprises en général sont en constante recherche d’augmentation de leur bénéfices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e du titre"/>
          <p:cNvSpPr txBox="1"/>
          <p:nvPr>
            <p:ph type="title"/>
          </p:nvPr>
        </p:nvSpPr>
        <p:spPr>
          <a:xfrm>
            <a:off x="914400" y="2130426"/>
            <a:ext cx="10363200" cy="1470026"/>
          </a:xfrm>
          <a:prstGeom prst="rect">
            <a:avLst/>
          </a:prstGeom>
        </p:spPr>
        <p:txBody>
          <a:bodyPr/>
          <a:lstStyle/>
          <a:p>
            <a:pPr/>
            <a:r>
              <a:t>Texte du titre</a:t>
            </a:r>
          </a:p>
        </p:txBody>
      </p:sp>
      <p:sp>
        <p:nvSpPr>
          <p:cNvPr id="16" name="Texte niveau 1…"/>
          <p:cNvSpPr txBox="1"/>
          <p:nvPr>
            <p:ph type="body" sz="quarter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888888"/>
                </a:solidFill>
              </a:defRPr>
            </a:lvl1pPr>
            <a:lvl2pPr marL="0" indent="548640" algn="ctr">
              <a:buSzTx/>
              <a:buNone/>
              <a:defRPr>
                <a:solidFill>
                  <a:srgbClr val="888888"/>
                </a:solidFill>
              </a:defRPr>
            </a:lvl2pPr>
            <a:lvl3pPr marL="0" indent="1097280" algn="ctr">
              <a:buSzTx/>
              <a:buNone/>
              <a:defRPr>
                <a:solidFill>
                  <a:srgbClr val="888888"/>
                </a:solidFill>
              </a:defRPr>
            </a:lvl3pPr>
            <a:lvl4pPr marL="0" indent="1645920" algn="ctr">
              <a:buSzTx/>
              <a:buNone/>
              <a:defRPr>
                <a:solidFill>
                  <a:srgbClr val="888888"/>
                </a:solidFill>
              </a:defRPr>
            </a:lvl4pPr>
            <a:lvl5pPr marL="0" indent="2194560" algn="ctr">
              <a:buSz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7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e du tit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 du titre</a:t>
            </a:r>
          </a:p>
        </p:txBody>
      </p:sp>
      <p:sp>
        <p:nvSpPr>
          <p:cNvPr id="25" name="Texte niveau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26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 6" descr="Imag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6459856"/>
            <a:ext cx="12192000" cy="398145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Connecteur droit 9"/>
          <p:cNvSpPr/>
          <p:nvPr/>
        </p:nvSpPr>
        <p:spPr>
          <a:xfrm flipH="1" flipV="1">
            <a:off x="-1" y="1211580"/>
            <a:ext cx="12192001" cy="1"/>
          </a:xfrm>
          <a:prstGeom prst="line">
            <a:avLst/>
          </a:prstGeom>
          <a:ln w="57150">
            <a:solidFill>
              <a:srgbClr val="DEDED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" name="Rectangle à coins arrondis 1"/>
          <p:cNvSpPr/>
          <p:nvPr/>
        </p:nvSpPr>
        <p:spPr>
          <a:xfrm>
            <a:off x="273050" y="1346836"/>
            <a:ext cx="11641668" cy="4966335"/>
          </a:xfrm>
          <a:prstGeom prst="roundRect">
            <a:avLst>
              <a:gd name="adj" fmla="val 2197"/>
            </a:avLst>
          </a:prstGeom>
          <a:ln>
            <a:solidFill>
              <a:srgbClr val="D9D9D9"/>
            </a:solidFill>
          </a:ln>
        </p:spPr>
        <p:txBody>
          <a:bodyPr lIns="45719" rIns="45719" anchor="ctr"/>
          <a:lstStyle/>
          <a:p>
            <a:pPr algn="ctr">
              <a:defRPr sz="2100">
                <a:solidFill>
                  <a:srgbClr val="FFFFFF"/>
                </a:solidFill>
              </a:defRPr>
            </a:pPr>
          </a:p>
        </p:txBody>
      </p:sp>
      <p:pic>
        <p:nvPicPr>
          <p:cNvPr id="36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747995" y="281259"/>
            <a:ext cx="1137089" cy="541701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Texte du titre"/>
          <p:cNvSpPr txBox="1"/>
          <p:nvPr>
            <p:ph type="title"/>
          </p:nvPr>
        </p:nvSpPr>
        <p:spPr>
          <a:xfrm>
            <a:off x="963084" y="4406901"/>
            <a:ext cx="103632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800"/>
            </a:lvl1pPr>
          </a:lstStyle>
          <a:p>
            <a:pPr/>
            <a:r>
              <a:t>Texte du titre</a:t>
            </a:r>
          </a:p>
        </p:txBody>
      </p:sp>
      <p:sp>
        <p:nvSpPr>
          <p:cNvPr id="38" name="Texte niveau 1…"/>
          <p:cNvSpPr txBox="1"/>
          <p:nvPr>
            <p:ph type="body" sz="quarter" idx="1"/>
          </p:nvPr>
        </p:nvSpPr>
        <p:spPr>
          <a:xfrm>
            <a:off x="963084" y="2906713"/>
            <a:ext cx="10363201" cy="1500188"/>
          </a:xfrm>
          <a:prstGeom prst="rect">
            <a:avLst/>
          </a:prstGeom>
        </p:spPr>
        <p:txBody>
          <a:bodyPr anchor="b"/>
          <a:lstStyle>
            <a:lvl1pPr>
              <a:spcBef>
                <a:spcPts val="500"/>
              </a:spcBef>
              <a:defRPr sz="2400">
                <a:solidFill>
                  <a:srgbClr val="888888"/>
                </a:solidFill>
              </a:defRPr>
            </a:lvl1pPr>
            <a:lvl2pPr marL="0" indent="548640">
              <a:spcBef>
                <a:spcPts val="500"/>
              </a:spcBef>
              <a:buSzTx/>
              <a:buNone/>
              <a:defRPr sz="2400">
                <a:solidFill>
                  <a:srgbClr val="888888"/>
                </a:solidFill>
              </a:defRPr>
            </a:lvl2pPr>
            <a:lvl3pPr marL="0" indent="1097280">
              <a:spcBef>
                <a:spcPts val="500"/>
              </a:spcBef>
              <a:buSzTx/>
              <a:buNone/>
              <a:defRPr sz="2400">
                <a:solidFill>
                  <a:srgbClr val="888888"/>
                </a:solidFill>
              </a:defRPr>
            </a:lvl3pPr>
            <a:lvl4pPr marL="0" indent="1645920">
              <a:spcBef>
                <a:spcPts val="500"/>
              </a:spcBef>
              <a:buSzTx/>
              <a:buNone/>
              <a:defRPr sz="2400">
                <a:solidFill>
                  <a:srgbClr val="888888"/>
                </a:solidFill>
              </a:defRPr>
            </a:lvl4pPr>
            <a:lvl5pPr marL="0" indent="2194560">
              <a:spcBef>
                <a:spcPts val="500"/>
              </a:spcBef>
              <a:buSz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39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Image 6" descr="Imag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6459856"/>
            <a:ext cx="12192000" cy="398145"/>
          </a:xfrm>
          <a:prstGeom prst="rect">
            <a:avLst/>
          </a:prstGeom>
          <a:ln w="12700">
            <a:miter lim="400000"/>
          </a:ln>
        </p:spPr>
      </p:pic>
      <p:sp>
        <p:nvSpPr>
          <p:cNvPr id="47" name="Connecteur droit 9"/>
          <p:cNvSpPr/>
          <p:nvPr/>
        </p:nvSpPr>
        <p:spPr>
          <a:xfrm flipH="1" flipV="1">
            <a:off x="-1" y="1211580"/>
            <a:ext cx="12192001" cy="1"/>
          </a:xfrm>
          <a:prstGeom prst="line">
            <a:avLst/>
          </a:prstGeom>
          <a:ln w="57150">
            <a:solidFill>
              <a:srgbClr val="DEDED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" name="Rectangle à coins arrondis 1"/>
          <p:cNvSpPr/>
          <p:nvPr/>
        </p:nvSpPr>
        <p:spPr>
          <a:xfrm>
            <a:off x="273050" y="1346836"/>
            <a:ext cx="11641668" cy="4966335"/>
          </a:xfrm>
          <a:prstGeom prst="roundRect">
            <a:avLst>
              <a:gd name="adj" fmla="val 2197"/>
            </a:avLst>
          </a:prstGeom>
          <a:ln>
            <a:solidFill>
              <a:srgbClr val="D9D9D9"/>
            </a:solidFill>
          </a:ln>
        </p:spPr>
        <p:txBody>
          <a:bodyPr lIns="45719" rIns="45719" anchor="ctr"/>
          <a:lstStyle/>
          <a:p>
            <a:pPr algn="ctr">
              <a:defRPr sz="2100">
                <a:solidFill>
                  <a:srgbClr val="FFFFFF"/>
                </a:solidFill>
              </a:defRPr>
            </a:pPr>
          </a:p>
        </p:txBody>
      </p:sp>
      <p:pic>
        <p:nvPicPr>
          <p:cNvPr id="49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747995" y="281259"/>
            <a:ext cx="1137089" cy="541701"/>
          </a:xfrm>
          <a:prstGeom prst="rect">
            <a:avLst/>
          </a:prstGeom>
          <a:ln w="12700">
            <a:miter lim="400000"/>
          </a:ln>
        </p:spPr>
      </p:pic>
      <p:sp>
        <p:nvSpPr>
          <p:cNvPr id="50" name="Texte du tit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 du titre</a:t>
            </a:r>
          </a:p>
        </p:txBody>
      </p:sp>
      <p:sp>
        <p:nvSpPr>
          <p:cNvPr id="51" name="Texte niveau 1…"/>
          <p:cNvSpPr txBox="1"/>
          <p:nvPr>
            <p:ph type="body" sz="half" idx="1"/>
          </p:nvPr>
        </p:nvSpPr>
        <p:spPr>
          <a:xfrm>
            <a:off x="609600" y="1600200"/>
            <a:ext cx="5384800" cy="4525964"/>
          </a:xfrm>
          <a:prstGeom prst="rect">
            <a:avLst/>
          </a:prstGeom>
        </p:spPr>
        <p:txBody>
          <a:bodyPr/>
          <a:lstStyle>
            <a:lvl1pPr>
              <a:spcBef>
                <a:spcPts val="700"/>
              </a:spcBef>
              <a:defRPr sz="3300"/>
            </a:lvl1pPr>
            <a:lvl2pPr marL="952772" indent="-404132">
              <a:spcBef>
                <a:spcPts val="700"/>
              </a:spcBef>
              <a:defRPr sz="3300"/>
            </a:lvl2pPr>
            <a:lvl3pPr marL="1474469" indent="-377189">
              <a:spcBef>
                <a:spcPts val="700"/>
              </a:spcBef>
              <a:defRPr sz="3300"/>
            </a:lvl3pPr>
            <a:lvl4pPr marL="2076994" indent="-431074">
              <a:spcBef>
                <a:spcPts val="700"/>
              </a:spcBef>
              <a:defRPr sz="3300"/>
            </a:lvl4pPr>
            <a:lvl5pPr marL="2625634" indent="-431074">
              <a:spcBef>
                <a:spcPts val="700"/>
              </a:spcBef>
              <a:defRPr sz="3300"/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52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 6" descr="Imag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6459856"/>
            <a:ext cx="12192000" cy="398145"/>
          </a:xfrm>
          <a:prstGeom prst="rect">
            <a:avLst/>
          </a:prstGeom>
          <a:ln w="12700">
            <a:miter lim="400000"/>
          </a:ln>
        </p:spPr>
      </p:pic>
      <p:sp>
        <p:nvSpPr>
          <p:cNvPr id="60" name="Connecteur droit 9"/>
          <p:cNvSpPr/>
          <p:nvPr/>
        </p:nvSpPr>
        <p:spPr>
          <a:xfrm flipH="1" flipV="1">
            <a:off x="-1" y="1211580"/>
            <a:ext cx="12192001" cy="1"/>
          </a:xfrm>
          <a:prstGeom prst="line">
            <a:avLst/>
          </a:prstGeom>
          <a:ln w="57150">
            <a:solidFill>
              <a:srgbClr val="DEDED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" name="Rectangle à coins arrondis 1"/>
          <p:cNvSpPr/>
          <p:nvPr/>
        </p:nvSpPr>
        <p:spPr>
          <a:xfrm>
            <a:off x="273050" y="1346836"/>
            <a:ext cx="11641668" cy="4966335"/>
          </a:xfrm>
          <a:prstGeom prst="roundRect">
            <a:avLst>
              <a:gd name="adj" fmla="val 2197"/>
            </a:avLst>
          </a:prstGeom>
          <a:ln>
            <a:solidFill>
              <a:srgbClr val="D9D9D9"/>
            </a:solidFill>
          </a:ln>
        </p:spPr>
        <p:txBody>
          <a:bodyPr lIns="45719" rIns="45719" anchor="ctr"/>
          <a:lstStyle/>
          <a:p>
            <a:pPr algn="ctr">
              <a:defRPr sz="2100">
                <a:solidFill>
                  <a:srgbClr val="FFFFFF"/>
                </a:solidFill>
              </a:defRPr>
            </a:pPr>
          </a:p>
        </p:txBody>
      </p:sp>
      <p:pic>
        <p:nvPicPr>
          <p:cNvPr id="62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747995" y="281259"/>
            <a:ext cx="1137089" cy="541701"/>
          </a:xfrm>
          <a:prstGeom prst="rect">
            <a:avLst/>
          </a:prstGeom>
          <a:ln w="12700">
            <a:miter lim="400000"/>
          </a:ln>
        </p:spPr>
      </p:pic>
      <p:sp>
        <p:nvSpPr>
          <p:cNvPr id="63" name="Texte du tit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 du titre</a:t>
            </a:r>
          </a:p>
        </p:txBody>
      </p:sp>
      <p:sp>
        <p:nvSpPr>
          <p:cNvPr id="64" name="Texte niveau 1…"/>
          <p:cNvSpPr txBox="1"/>
          <p:nvPr>
            <p:ph type="body" sz="quarter" idx="1"/>
          </p:nvPr>
        </p:nvSpPr>
        <p:spPr>
          <a:xfrm>
            <a:off x="609600" y="1535112"/>
            <a:ext cx="5386917" cy="639764"/>
          </a:xfrm>
          <a:prstGeom prst="rect">
            <a:avLst/>
          </a:prstGeom>
        </p:spPr>
        <p:txBody>
          <a:bodyPr anchor="b"/>
          <a:lstStyle>
            <a:lvl1pPr>
              <a:spcBef>
                <a:spcPts val="600"/>
              </a:spcBef>
              <a:defRPr b="1" sz="2800"/>
            </a:lvl1pPr>
            <a:lvl2pPr marL="0" indent="548640">
              <a:spcBef>
                <a:spcPts val="600"/>
              </a:spcBef>
              <a:buSzTx/>
              <a:buNone/>
              <a:defRPr b="1" sz="2800"/>
            </a:lvl2pPr>
            <a:lvl3pPr marL="0" indent="1097280">
              <a:spcBef>
                <a:spcPts val="600"/>
              </a:spcBef>
              <a:buSzTx/>
              <a:buNone/>
              <a:defRPr b="1" sz="2800"/>
            </a:lvl3pPr>
            <a:lvl4pPr marL="0" indent="1645920">
              <a:spcBef>
                <a:spcPts val="600"/>
              </a:spcBef>
              <a:buSzTx/>
              <a:buNone/>
              <a:defRPr b="1" sz="2800"/>
            </a:lvl4pPr>
            <a:lvl5pPr marL="0" indent="2194560">
              <a:spcBef>
                <a:spcPts val="600"/>
              </a:spcBef>
              <a:buSzTx/>
              <a:buNone/>
              <a:defRPr b="1" sz="2800"/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65" name="Espace réservé du texte 4"/>
          <p:cNvSpPr/>
          <p:nvPr>
            <p:ph type="body" sz="quarter" idx="21"/>
          </p:nvPr>
        </p:nvSpPr>
        <p:spPr>
          <a:xfrm>
            <a:off x="6193370" y="1535112"/>
            <a:ext cx="5389034" cy="639765"/>
          </a:xfrm>
          <a:prstGeom prst="rect">
            <a:avLst/>
          </a:prstGeom>
        </p:spPr>
        <p:txBody>
          <a:bodyPr anchor="b"/>
          <a:lstStyle/>
          <a:p>
            <a:pPr>
              <a:spcBef>
                <a:spcPts val="600"/>
              </a:spcBef>
              <a:defRPr b="1" sz="2800"/>
            </a:pPr>
          </a:p>
        </p:txBody>
      </p:sp>
      <p:sp>
        <p:nvSpPr>
          <p:cNvPr id="66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Image 6" descr="Imag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6459856"/>
            <a:ext cx="12192000" cy="398145"/>
          </a:xfrm>
          <a:prstGeom prst="rect">
            <a:avLst/>
          </a:prstGeom>
          <a:ln w="12700">
            <a:miter lim="400000"/>
          </a:ln>
        </p:spPr>
      </p:pic>
      <p:sp>
        <p:nvSpPr>
          <p:cNvPr id="74" name="Connecteur droit 9"/>
          <p:cNvSpPr/>
          <p:nvPr/>
        </p:nvSpPr>
        <p:spPr>
          <a:xfrm flipH="1" flipV="1">
            <a:off x="-1" y="1211580"/>
            <a:ext cx="12192001" cy="1"/>
          </a:xfrm>
          <a:prstGeom prst="line">
            <a:avLst/>
          </a:prstGeom>
          <a:ln w="57150">
            <a:solidFill>
              <a:srgbClr val="DEDED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" name="Rectangle à coins arrondis 1"/>
          <p:cNvSpPr/>
          <p:nvPr/>
        </p:nvSpPr>
        <p:spPr>
          <a:xfrm>
            <a:off x="273050" y="1346836"/>
            <a:ext cx="11641668" cy="4966335"/>
          </a:xfrm>
          <a:prstGeom prst="roundRect">
            <a:avLst>
              <a:gd name="adj" fmla="val 2197"/>
            </a:avLst>
          </a:prstGeom>
          <a:ln>
            <a:solidFill>
              <a:srgbClr val="D9D9D9"/>
            </a:solidFill>
          </a:ln>
        </p:spPr>
        <p:txBody>
          <a:bodyPr lIns="45719" rIns="45719" anchor="ctr"/>
          <a:lstStyle/>
          <a:p>
            <a:pPr algn="ctr">
              <a:defRPr sz="2100">
                <a:solidFill>
                  <a:srgbClr val="FFFFFF"/>
                </a:solidFill>
              </a:defRPr>
            </a:pPr>
          </a:p>
        </p:txBody>
      </p:sp>
      <p:pic>
        <p:nvPicPr>
          <p:cNvPr id="76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747995" y="281259"/>
            <a:ext cx="1137089" cy="541701"/>
          </a:xfrm>
          <a:prstGeom prst="rect">
            <a:avLst/>
          </a:prstGeom>
          <a:ln w="12700">
            <a:miter lim="400000"/>
          </a:ln>
        </p:spPr>
      </p:pic>
      <p:sp>
        <p:nvSpPr>
          <p:cNvPr id="77" name="Texte du tit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 du titre</a:t>
            </a:r>
          </a:p>
        </p:txBody>
      </p:sp>
      <p:sp>
        <p:nvSpPr>
          <p:cNvPr id="78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Image 6" descr="Imag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6459856"/>
            <a:ext cx="12192000" cy="398145"/>
          </a:xfrm>
          <a:prstGeom prst="rect">
            <a:avLst/>
          </a:prstGeom>
          <a:ln w="12700">
            <a:miter lim="400000"/>
          </a:ln>
        </p:spPr>
      </p:pic>
      <p:sp>
        <p:nvSpPr>
          <p:cNvPr id="86" name="Connecteur droit 9"/>
          <p:cNvSpPr/>
          <p:nvPr/>
        </p:nvSpPr>
        <p:spPr>
          <a:xfrm flipH="1" flipV="1">
            <a:off x="-1" y="1211580"/>
            <a:ext cx="12192001" cy="1"/>
          </a:xfrm>
          <a:prstGeom prst="line">
            <a:avLst/>
          </a:prstGeom>
          <a:ln w="57150">
            <a:solidFill>
              <a:srgbClr val="DEDED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7" name="Rectangle à coins arrondis 1"/>
          <p:cNvSpPr/>
          <p:nvPr/>
        </p:nvSpPr>
        <p:spPr>
          <a:xfrm>
            <a:off x="273050" y="1346836"/>
            <a:ext cx="11641668" cy="4966335"/>
          </a:xfrm>
          <a:prstGeom prst="roundRect">
            <a:avLst>
              <a:gd name="adj" fmla="val 2197"/>
            </a:avLst>
          </a:prstGeom>
          <a:ln>
            <a:solidFill>
              <a:srgbClr val="D9D9D9"/>
            </a:solidFill>
          </a:ln>
        </p:spPr>
        <p:txBody>
          <a:bodyPr lIns="45719" rIns="45719" anchor="ctr"/>
          <a:lstStyle/>
          <a:p>
            <a:pPr algn="ctr">
              <a:defRPr sz="2100">
                <a:solidFill>
                  <a:srgbClr val="FFFFFF"/>
                </a:solidFill>
              </a:defRPr>
            </a:pPr>
          </a:p>
        </p:txBody>
      </p:sp>
      <p:pic>
        <p:nvPicPr>
          <p:cNvPr id="88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747995" y="281259"/>
            <a:ext cx="1137089" cy="541701"/>
          </a:xfrm>
          <a:prstGeom prst="rect">
            <a:avLst/>
          </a:prstGeom>
          <a:ln w="12700">
            <a:miter lim="400000"/>
          </a:ln>
        </p:spPr>
      </p:pic>
      <p:sp>
        <p:nvSpPr>
          <p:cNvPr id="89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Image 6" descr="Imag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6459856"/>
            <a:ext cx="12192000" cy="398145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Connecteur droit 9"/>
          <p:cNvSpPr/>
          <p:nvPr/>
        </p:nvSpPr>
        <p:spPr>
          <a:xfrm flipH="1" flipV="1">
            <a:off x="-1" y="1211580"/>
            <a:ext cx="12192001" cy="1"/>
          </a:xfrm>
          <a:prstGeom prst="line">
            <a:avLst/>
          </a:prstGeom>
          <a:ln w="57150">
            <a:solidFill>
              <a:srgbClr val="DEDED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8" name="Rectangle à coins arrondis 1"/>
          <p:cNvSpPr/>
          <p:nvPr/>
        </p:nvSpPr>
        <p:spPr>
          <a:xfrm>
            <a:off x="273050" y="1346836"/>
            <a:ext cx="11641668" cy="4966335"/>
          </a:xfrm>
          <a:prstGeom prst="roundRect">
            <a:avLst>
              <a:gd name="adj" fmla="val 2197"/>
            </a:avLst>
          </a:prstGeom>
          <a:ln>
            <a:solidFill>
              <a:srgbClr val="D9D9D9"/>
            </a:solidFill>
          </a:ln>
        </p:spPr>
        <p:txBody>
          <a:bodyPr lIns="45719" rIns="45719" anchor="ctr"/>
          <a:lstStyle/>
          <a:p>
            <a:pPr algn="ctr">
              <a:defRPr sz="2100">
                <a:solidFill>
                  <a:srgbClr val="FFFFFF"/>
                </a:solidFill>
              </a:defRPr>
            </a:pPr>
          </a:p>
        </p:txBody>
      </p:sp>
      <p:pic>
        <p:nvPicPr>
          <p:cNvPr id="99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747995" y="281259"/>
            <a:ext cx="1137089" cy="541701"/>
          </a:xfrm>
          <a:prstGeom prst="rect">
            <a:avLst/>
          </a:prstGeom>
          <a:ln w="12700">
            <a:miter lim="400000"/>
          </a:ln>
        </p:spPr>
      </p:pic>
      <p:sp>
        <p:nvSpPr>
          <p:cNvPr id="100" name="Texte du titre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</p:spPr>
        <p:txBody>
          <a:bodyPr anchor="b"/>
          <a:lstStyle>
            <a:lvl1pPr algn="l">
              <a:defRPr b="1"/>
            </a:lvl1pPr>
          </a:lstStyle>
          <a:p>
            <a:pPr/>
            <a:r>
              <a:t>Texte du titre</a:t>
            </a:r>
          </a:p>
        </p:txBody>
      </p:sp>
      <p:sp>
        <p:nvSpPr>
          <p:cNvPr id="101" name="Texte niveau 1…"/>
          <p:cNvSpPr txBox="1"/>
          <p:nvPr>
            <p:ph type="body" idx="1"/>
          </p:nvPr>
        </p:nvSpPr>
        <p:spPr>
          <a:xfrm>
            <a:off x="4766733" y="273052"/>
            <a:ext cx="6815667" cy="5853113"/>
          </a:xfrm>
          <a:prstGeom prst="rect">
            <a:avLst/>
          </a:prstGeom>
        </p:spPr>
        <p:txBody>
          <a:bodyPr/>
          <a:lstStyle>
            <a:lvl1pPr>
              <a:spcBef>
                <a:spcPts val="900"/>
              </a:spcBef>
              <a:defRPr sz="3800"/>
            </a:lvl1pPr>
            <a:lvl2pPr marL="943494" indent="-394854">
              <a:spcBef>
                <a:spcPts val="900"/>
              </a:spcBef>
              <a:defRPr sz="3800"/>
            </a:lvl2pPr>
            <a:lvl3pPr marL="1469571" indent="-372291">
              <a:spcBef>
                <a:spcPts val="900"/>
              </a:spcBef>
              <a:defRPr sz="3800"/>
            </a:lvl3pPr>
            <a:lvl4pPr marL="2080260" indent="-434340">
              <a:spcBef>
                <a:spcPts val="900"/>
              </a:spcBef>
              <a:defRPr sz="3800"/>
            </a:lvl4pPr>
            <a:lvl5pPr marL="2628900" indent="-434340">
              <a:spcBef>
                <a:spcPts val="900"/>
              </a:spcBef>
              <a:defRPr sz="3800"/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02" name="Espace réservé du texte 3"/>
          <p:cNvSpPr/>
          <p:nvPr>
            <p:ph type="body" sz="half" idx="21"/>
          </p:nvPr>
        </p:nvSpPr>
        <p:spPr>
          <a:xfrm>
            <a:off x="609602" y="1435102"/>
            <a:ext cx="4011085" cy="4691064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3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Image 6" descr="Imag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6459856"/>
            <a:ext cx="12192000" cy="398145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Connecteur droit 9"/>
          <p:cNvSpPr/>
          <p:nvPr/>
        </p:nvSpPr>
        <p:spPr>
          <a:xfrm flipH="1" flipV="1">
            <a:off x="-1" y="1211580"/>
            <a:ext cx="12192001" cy="1"/>
          </a:xfrm>
          <a:prstGeom prst="line">
            <a:avLst/>
          </a:prstGeom>
          <a:ln w="57150">
            <a:solidFill>
              <a:srgbClr val="DEDED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Rectangle à coins arrondis 1"/>
          <p:cNvSpPr/>
          <p:nvPr/>
        </p:nvSpPr>
        <p:spPr>
          <a:xfrm>
            <a:off x="273050" y="1346836"/>
            <a:ext cx="11641668" cy="4966335"/>
          </a:xfrm>
          <a:prstGeom prst="roundRect">
            <a:avLst>
              <a:gd name="adj" fmla="val 2197"/>
            </a:avLst>
          </a:prstGeom>
          <a:ln>
            <a:solidFill>
              <a:srgbClr val="D9D9D9"/>
            </a:solidFill>
          </a:ln>
        </p:spPr>
        <p:txBody>
          <a:bodyPr lIns="45719" rIns="45719" anchor="ctr"/>
          <a:lstStyle/>
          <a:p>
            <a:pPr algn="ctr">
              <a:defRPr sz="2100">
                <a:solidFill>
                  <a:srgbClr val="FFFFFF"/>
                </a:solidFill>
              </a:defRPr>
            </a:pPr>
          </a:p>
        </p:txBody>
      </p:sp>
      <p:pic>
        <p:nvPicPr>
          <p:cNvPr id="113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747995" y="281259"/>
            <a:ext cx="1137089" cy="541701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Texte du titre"/>
          <p:cNvSpPr txBox="1"/>
          <p:nvPr>
            <p:ph type="title"/>
          </p:nvPr>
        </p:nvSpPr>
        <p:spPr>
          <a:xfrm>
            <a:off x="2389716" y="4800600"/>
            <a:ext cx="7315201" cy="566738"/>
          </a:xfrm>
          <a:prstGeom prst="rect">
            <a:avLst/>
          </a:prstGeom>
        </p:spPr>
        <p:txBody>
          <a:bodyPr anchor="b"/>
          <a:lstStyle>
            <a:lvl1pPr algn="l">
              <a:defRPr b="1"/>
            </a:lvl1pPr>
          </a:lstStyle>
          <a:p>
            <a:pPr/>
            <a:r>
              <a:t>Texte du titre</a:t>
            </a:r>
          </a:p>
        </p:txBody>
      </p:sp>
      <p:sp>
        <p:nvSpPr>
          <p:cNvPr id="115" name="Espace réservé pour une image  2"/>
          <p:cNvSpPr/>
          <p:nvPr>
            <p:ph type="pic" sz="half" idx="21"/>
          </p:nvPr>
        </p:nvSpPr>
        <p:spPr>
          <a:xfrm>
            <a:off x="2389716" y="612775"/>
            <a:ext cx="73152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116" name="Texte niveau 1…"/>
          <p:cNvSpPr txBox="1"/>
          <p:nvPr>
            <p:ph type="body" sz="quarter" idx="1"/>
          </p:nvPr>
        </p:nvSpPr>
        <p:spPr>
          <a:xfrm>
            <a:off x="2389716" y="5367339"/>
            <a:ext cx="7315201" cy="804864"/>
          </a:xfrm>
          <a:prstGeom prst="rect">
            <a:avLst/>
          </a:prstGeom>
        </p:spPr>
        <p:txBody>
          <a:bodyPr/>
          <a:lstStyle>
            <a:lvl2pPr marL="0" indent="548640">
              <a:buSzTx/>
              <a:buNone/>
            </a:lvl2pPr>
            <a:lvl3pPr marL="0" indent="1097280">
              <a:buSzTx/>
              <a:buNone/>
            </a:lvl3pPr>
            <a:lvl4pPr marL="0" indent="1645920">
              <a:buSzTx/>
              <a:buNone/>
            </a:lvl4pPr>
            <a:lvl5pPr marL="0" indent="2194560">
              <a:buSzTx/>
              <a:buNone/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17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Image 6" descr="Imag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6459856"/>
            <a:ext cx="12192000" cy="398145"/>
          </a:xfrm>
          <a:prstGeom prst="rect">
            <a:avLst/>
          </a:prstGeom>
          <a:ln w="12700">
            <a:miter lim="400000"/>
          </a:ln>
        </p:spPr>
      </p:pic>
      <p:sp>
        <p:nvSpPr>
          <p:cNvPr id="125" name="Connecteur droit 9"/>
          <p:cNvSpPr/>
          <p:nvPr/>
        </p:nvSpPr>
        <p:spPr>
          <a:xfrm flipH="1" flipV="1">
            <a:off x="-1" y="1211580"/>
            <a:ext cx="12192001" cy="1"/>
          </a:xfrm>
          <a:prstGeom prst="line">
            <a:avLst/>
          </a:prstGeom>
          <a:ln w="57150">
            <a:solidFill>
              <a:srgbClr val="DEDED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6" name="Rectangle à coins arrondis 1"/>
          <p:cNvSpPr/>
          <p:nvPr/>
        </p:nvSpPr>
        <p:spPr>
          <a:xfrm>
            <a:off x="273050" y="1346836"/>
            <a:ext cx="11641668" cy="4966335"/>
          </a:xfrm>
          <a:prstGeom prst="roundRect">
            <a:avLst>
              <a:gd name="adj" fmla="val 2197"/>
            </a:avLst>
          </a:prstGeom>
          <a:ln>
            <a:solidFill>
              <a:srgbClr val="D9D9D9"/>
            </a:solidFill>
          </a:ln>
        </p:spPr>
        <p:txBody>
          <a:bodyPr lIns="45719" rIns="45719" anchor="ctr"/>
          <a:lstStyle/>
          <a:p>
            <a:pPr algn="ctr">
              <a:defRPr sz="2100">
                <a:solidFill>
                  <a:srgbClr val="FFFFFF"/>
                </a:solidFill>
              </a:defRPr>
            </a:pPr>
          </a:p>
        </p:txBody>
      </p:sp>
      <p:pic>
        <p:nvPicPr>
          <p:cNvPr id="127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747995" y="281259"/>
            <a:ext cx="1137089" cy="541701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Numéro de diapositive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6" descr="Imag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6459856"/>
            <a:ext cx="12192000" cy="398145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Connecteur droit 9"/>
          <p:cNvSpPr/>
          <p:nvPr/>
        </p:nvSpPr>
        <p:spPr>
          <a:xfrm flipH="1" flipV="1">
            <a:off x="-1" y="1211580"/>
            <a:ext cx="12192001" cy="1"/>
          </a:xfrm>
          <a:prstGeom prst="line">
            <a:avLst/>
          </a:prstGeom>
          <a:ln w="57150">
            <a:solidFill>
              <a:srgbClr val="DEDED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" name="Rectangle à coins arrondis 1"/>
          <p:cNvSpPr/>
          <p:nvPr/>
        </p:nvSpPr>
        <p:spPr>
          <a:xfrm>
            <a:off x="273050" y="1346836"/>
            <a:ext cx="11641668" cy="4966335"/>
          </a:xfrm>
          <a:prstGeom prst="roundRect">
            <a:avLst>
              <a:gd name="adj" fmla="val 2197"/>
            </a:avLst>
          </a:prstGeom>
          <a:ln>
            <a:solidFill>
              <a:srgbClr val="D9D9D9"/>
            </a:solidFill>
          </a:ln>
        </p:spPr>
        <p:txBody>
          <a:bodyPr lIns="45719" rIns="45719" anchor="ctr"/>
          <a:lstStyle/>
          <a:p>
            <a:pPr algn="ctr">
              <a:defRPr sz="2100">
                <a:solidFill>
                  <a:srgbClr val="FFFFFF"/>
                </a:solidFill>
              </a:defRPr>
            </a:pPr>
          </a:p>
        </p:txBody>
      </p:sp>
      <p:pic>
        <p:nvPicPr>
          <p:cNvPr id="5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747995" y="281259"/>
            <a:ext cx="1137089" cy="541701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exte du titre"/>
          <p:cNvSpPr txBox="1"/>
          <p:nvPr>
            <p:ph type="title"/>
          </p:nvPr>
        </p:nvSpPr>
        <p:spPr>
          <a:xfrm>
            <a:off x="609600" y="188595"/>
            <a:ext cx="10972800" cy="634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Texte du titre</a:t>
            </a:r>
          </a:p>
        </p:txBody>
      </p:sp>
      <p:sp>
        <p:nvSpPr>
          <p:cNvPr id="7" name="Texte niveau 1…"/>
          <p:cNvSpPr txBox="1"/>
          <p:nvPr>
            <p:ph type="body" idx="1"/>
          </p:nvPr>
        </p:nvSpPr>
        <p:spPr>
          <a:xfrm>
            <a:off x="609600" y="1600200"/>
            <a:ext cx="10972800" cy="4360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8" name="Numéro de diapositive"/>
          <p:cNvSpPr txBox="1"/>
          <p:nvPr>
            <p:ph type="sldNum" sz="quarter" idx="2"/>
          </p:nvPr>
        </p:nvSpPr>
        <p:spPr>
          <a:xfrm>
            <a:off x="11600712" y="6502336"/>
            <a:ext cx="284372" cy="28080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400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transition xmlns:p14="http://schemas.microsoft.com/office/powerpoint/2010/main" spd="med" advClick="1"/>
  <p:txStyles>
    <p:titleStyle>
      <a:lvl1pPr marL="0" marR="0" indent="0" algn="ctr" defTabSz="5486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5486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5486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5486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5486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548640" algn="ctr" defTabSz="5486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1097280" algn="ctr" defTabSz="5486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1645920" algn="ctr" defTabSz="5486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2194560" algn="ctr" defTabSz="5486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0" marR="0" indent="0" algn="l" defTabSz="548640" rtl="0" latinLnBrk="0">
        <a:lnSpc>
          <a:spcPct val="100000"/>
        </a:lnSpc>
        <a:spcBef>
          <a:spcPts val="3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14894" marR="0" indent="-166254" algn="l" defTabSz="54864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Tx/>
        <a:buChar char="–"/>
        <a:tabLst/>
        <a:defRPr b="0" baseline="0" cap="none" i="0" spc="0" strike="noStrike" sz="16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54034" marR="0" indent="-156754" algn="l" defTabSz="54864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6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828800" marR="0" indent="-182880" algn="l" defTabSz="54864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Tx/>
        <a:buChar char="–"/>
        <a:tabLst/>
        <a:defRPr b="0" baseline="0" cap="none" i="0" spc="0" strike="noStrike" sz="16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377439" marR="0" indent="-182880" algn="l" defTabSz="54864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6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926080" marR="0" indent="-182880" algn="l" defTabSz="54864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6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474719" marR="0" indent="-182879" algn="l" defTabSz="54864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6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4023359" marR="0" indent="-182879" algn="l" defTabSz="54864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6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572000" marR="0" indent="-182879" algn="l" defTabSz="54864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6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28.png"/><Relationship Id="rId13" Type="http://schemas.openxmlformats.org/officeDocument/2006/relationships/image" Target="../media/image29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image" Target="../media/image38.png"/><Relationship Id="rId12" Type="http://schemas.openxmlformats.org/officeDocument/2006/relationships/image" Target="../media/image39.png"/><Relationship Id="rId13" Type="http://schemas.openxmlformats.org/officeDocument/2006/relationships/image" Target="../media/image40.png"/><Relationship Id="rId14" Type="http://schemas.openxmlformats.org/officeDocument/2006/relationships/image" Target="../media/image41.png"/><Relationship Id="rId15" Type="http://schemas.openxmlformats.org/officeDocument/2006/relationships/image" Target="../media/image42.png"/><Relationship Id="rId16" Type="http://schemas.openxmlformats.org/officeDocument/2006/relationships/image" Target="../media/image43.png"/><Relationship Id="rId17" Type="http://schemas.openxmlformats.org/officeDocument/2006/relationships/image" Target="../media/image44.png"/><Relationship Id="rId18" Type="http://schemas.openxmlformats.org/officeDocument/2006/relationships/image" Target="../media/image45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16.png"/><Relationship Id="rId8" Type="http://schemas.openxmlformats.org/officeDocument/2006/relationships/image" Target="../media/image50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16.png"/><Relationship Id="rId7" Type="http://schemas.openxmlformats.org/officeDocument/2006/relationships/image" Target="../media/image54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5.png"/><Relationship Id="rId4" Type="http://schemas.openxmlformats.org/officeDocument/2006/relationships/image" Target="../media/image52.png"/><Relationship Id="rId5" Type="http://schemas.openxmlformats.org/officeDocument/2006/relationships/image" Target="../media/image56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7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18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2.png"/><Relationship Id="rId4" Type="http://schemas.openxmlformats.org/officeDocument/2006/relationships/image" Target="../media/image16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image" Target="../media/image12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7.png"/><Relationship Id="rId4" Type="http://schemas.openxmlformats.org/officeDocument/2006/relationships/image" Target="../media/image3.jpe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5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Espace réservé du pied de page 6"/>
          <p:cNvSpPr txBox="1"/>
          <p:nvPr/>
        </p:nvSpPr>
        <p:spPr>
          <a:xfrm>
            <a:off x="4211320" y="6502336"/>
            <a:ext cx="404452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Industrialisation IA</a:t>
            </a:r>
          </a:p>
        </p:txBody>
      </p:sp>
      <p:grpSp>
        <p:nvGrpSpPr>
          <p:cNvPr id="140" name="Espace réservé du contenu 2"/>
          <p:cNvGrpSpPr/>
          <p:nvPr/>
        </p:nvGrpSpPr>
        <p:grpSpPr>
          <a:xfrm>
            <a:off x="1017269" y="1600200"/>
            <a:ext cx="10149842" cy="4320000"/>
            <a:chOff x="0" y="0"/>
            <a:chExt cx="10149840" cy="4319999"/>
          </a:xfrm>
        </p:grpSpPr>
        <p:sp>
          <p:nvSpPr>
            <p:cNvPr id="138" name="Rectangle"/>
            <p:cNvSpPr/>
            <p:nvPr/>
          </p:nvSpPr>
          <p:spPr>
            <a:xfrm>
              <a:off x="-1" y="0"/>
              <a:ext cx="10149842" cy="4320000"/>
            </a:xfrm>
            <a:prstGeom prst="rect">
              <a:avLst/>
            </a:prstGeom>
            <a:solidFill>
              <a:srgbClr val="E2F6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spcBef>
                  <a:spcPts val="300"/>
                </a:spcBef>
                <a:defRPr i="1" sz="2000"/>
              </a:pPr>
            </a:p>
          </p:txBody>
        </p:sp>
        <p:sp>
          <p:nvSpPr>
            <p:cNvPr id="139" name="Industrialisation IA…"/>
            <p:cNvSpPr txBox="1"/>
            <p:nvPr/>
          </p:nvSpPr>
          <p:spPr>
            <a:xfrm>
              <a:off x="54863" y="0"/>
              <a:ext cx="10040113" cy="4320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4864" tIns="54864" rIns="54864" bIns="54864" numCol="1" anchor="ctr">
              <a:normAutofit fontScale="100000" lnSpcReduction="0"/>
            </a:bodyPr>
            <a:lstStyle/>
            <a:p>
              <a:pPr algn="ctr" defTabSz="457200">
                <a:spcBef>
                  <a:spcPts val="800"/>
                </a:spcBef>
                <a:defRPr b="1" sz="3600"/>
              </a:pPr>
              <a:r>
                <a:t>Industrialisation IA</a:t>
              </a:r>
              <a:endParaRPr sz="14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algn="ctr" defTabSz="457200">
                <a:spcBef>
                  <a:spcPts val="500"/>
                </a:spcBef>
                <a:defRPr i="1" sz="2400"/>
              </a:pPr>
              <a:r>
                <a:t>Zacharie BUISSON - Mario DEFRANCE</a:t>
              </a:r>
            </a:p>
          </p:txBody>
        </p:sp>
      </p:grpSp>
      <p:sp>
        <p:nvSpPr>
          <p:cNvPr id="141" name="Espace réservé de la date 8"/>
          <p:cNvSpPr txBox="1"/>
          <p:nvPr/>
        </p:nvSpPr>
        <p:spPr>
          <a:xfrm>
            <a:off x="352637" y="6502336"/>
            <a:ext cx="27533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27.04.25</a:t>
            </a:r>
          </a:p>
        </p:txBody>
      </p:sp>
      <p:sp>
        <p:nvSpPr>
          <p:cNvPr id="142" name="Espace réservé du numéro de diapositive 9"/>
          <p:cNvSpPr txBox="1"/>
          <p:nvPr>
            <p:ph type="sldNum" sz="quarter" idx="2"/>
          </p:nvPr>
        </p:nvSpPr>
        <p:spPr>
          <a:xfrm>
            <a:off x="11690828" y="6502336"/>
            <a:ext cx="194256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Espace réservé du pied de page 6"/>
          <p:cNvSpPr txBox="1"/>
          <p:nvPr/>
        </p:nvSpPr>
        <p:spPr>
          <a:xfrm>
            <a:off x="4211320" y="6502336"/>
            <a:ext cx="404452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Industrialisation IA</a:t>
            </a:r>
          </a:p>
        </p:txBody>
      </p:sp>
      <p:sp>
        <p:nvSpPr>
          <p:cNvPr id="145" name="Espace réservé de la date 3"/>
          <p:cNvSpPr txBox="1"/>
          <p:nvPr/>
        </p:nvSpPr>
        <p:spPr>
          <a:xfrm>
            <a:off x="352637" y="6502336"/>
            <a:ext cx="27533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27.04.25</a:t>
            </a:r>
          </a:p>
        </p:txBody>
      </p:sp>
      <p:sp>
        <p:nvSpPr>
          <p:cNvPr id="146" name="Espace réservé du numéro de diapositive 5"/>
          <p:cNvSpPr txBox="1"/>
          <p:nvPr>
            <p:ph type="sldNum" sz="quarter" idx="2"/>
          </p:nvPr>
        </p:nvSpPr>
        <p:spPr>
          <a:xfrm>
            <a:off x="11690828" y="6502336"/>
            <a:ext cx="194256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149" name="Espace réservé du contenu 2"/>
          <p:cNvGrpSpPr/>
          <p:nvPr/>
        </p:nvGrpSpPr>
        <p:grpSpPr>
          <a:xfrm>
            <a:off x="1017269" y="1600200"/>
            <a:ext cx="10149842" cy="4320000"/>
            <a:chOff x="0" y="0"/>
            <a:chExt cx="10149840" cy="4319999"/>
          </a:xfrm>
        </p:grpSpPr>
        <p:sp>
          <p:nvSpPr>
            <p:cNvPr id="147" name="Rectangle"/>
            <p:cNvSpPr/>
            <p:nvPr/>
          </p:nvSpPr>
          <p:spPr>
            <a:xfrm>
              <a:off x="-1" y="0"/>
              <a:ext cx="10149842" cy="4320000"/>
            </a:xfrm>
            <a:prstGeom prst="rect">
              <a:avLst/>
            </a:prstGeom>
            <a:solidFill>
              <a:srgbClr val="E2F6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spcBef>
                  <a:spcPts val="300"/>
                </a:spcBef>
                <a:defRPr sz="14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</a:p>
          </p:txBody>
        </p:sp>
        <p:sp>
          <p:nvSpPr>
            <p:cNvPr id="148" name="Introduction"/>
            <p:cNvSpPr txBox="1"/>
            <p:nvPr/>
          </p:nvSpPr>
          <p:spPr>
            <a:xfrm>
              <a:off x="54863" y="0"/>
              <a:ext cx="10040113" cy="4320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4864" tIns="54864" rIns="54864" bIns="54864" numCol="1" anchor="ctr">
              <a:normAutofit fontScale="100000" lnSpcReduction="0"/>
            </a:bodyPr>
            <a:lstStyle>
              <a:lvl1pPr algn="ctr" defTabSz="457200">
                <a:spcBef>
                  <a:spcPts val="1000"/>
                </a:spcBef>
                <a:defRPr b="1" sz="4300"/>
              </a:lvl1pPr>
            </a:lstStyle>
            <a:p>
              <a:pPr/>
              <a:r>
                <a:t>Introduction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Espace réservé du pied de page 6"/>
          <p:cNvSpPr txBox="1"/>
          <p:nvPr/>
        </p:nvSpPr>
        <p:spPr>
          <a:xfrm>
            <a:off x="4211320" y="6502336"/>
            <a:ext cx="404452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Industrialisation IA</a:t>
            </a:r>
          </a:p>
        </p:txBody>
      </p:sp>
      <p:sp>
        <p:nvSpPr>
          <p:cNvPr id="152" name="Titr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</a:t>
            </a:r>
          </a:p>
        </p:txBody>
      </p:sp>
      <p:sp>
        <p:nvSpPr>
          <p:cNvPr id="153" name="Espace réservé de la date 3"/>
          <p:cNvSpPr txBox="1"/>
          <p:nvPr/>
        </p:nvSpPr>
        <p:spPr>
          <a:xfrm>
            <a:off x="352637" y="6502336"/>
            <a:ext cx="27533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27.04.25</a:t>
            </a:r>
          </a:p>
        </p:txBody>
      </p:sp>
      <p:sp>
        <p:nvSpPr>
          <p:cNvPr id="154" name="Espace réservé du numéro de diapositive 5"/>
          <p:cNvSpPr txBox="1"/>
          <p:nvPr>
            <p:ph type="sldNum" sz="quarter" idx="2"/>
          </p:nvPr>
        </p:nvSpPr>
        <p:spPr>
          <a:xfrm>
            <a:off x="11690828" y="6502336"/>
            <a:ext cx="194256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55" name="Image 2" descr="Imag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32686" y="27744"/>
            <a:ext cx="1112606" cy="1112606"/>
          </a:xfrm>
          <a:prstGeom prst="rect">
            <a:avLst/>
          </a:prstGeom>
          <a:ln w="12700">
            <a:miter lim="400000"/>
          </a:ln>
        </p:spPr>
      </p:pic>
      <p:sp>
        <p:nvSpPr>
          <p:cNvPr id="156" name="Rectangle 8"/>
          <p:cNvSpPr txBox="1"/>
          <p:nvPr/>
        </p:nvSpPr>
        <p:spPr>
          <a:xfrm>
            <a:off x="3499530" y="2027689"/>
            <a:ext cx="5192941" cy="3410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FF7979"/>
                </a:solidFill>
              </a:defRPr>
            </a:pPr>
            <a:r>
              <a:t>Séance 1 </a:t>
            </a:r>
            <a:r>
              <a:rPr b="0" sz="1200"/>
              <a:t>Zacharie BUISSON</a:t>
            </a:r>
            <a:endParaRPr b="0" sz="1200"/>
          </a:p>
          <a:p>
            <a:pPr>
              <a:defRPr b="1" sz="1200"/>
            </a:pPr>
          </a:p>
          <a:p>
            <a:pPr lvl="1" marL="868680" indent="-411480">
              <a:buSzPct val="100000"/>
              <a:buFont typeface="Arial"/>
              <a:buChar char="•"/>
              <a:defRPr sz="1200"/>
            </a:pPr>
            <a:r>
              <a:t>Contexte et enjeux de l’industrialisation IA</a:t>
            </a:r>
          </a:p>
          <a:p>
            <a:pPr lvl="1" marL="868680" indent="-411480">
              <a:buSzPct val="100000"/>
              <a:buFont typeface="Arial"/>
              <a:buChar char="•"/>
              <a:defRPr sz="1200"/>
            </a:pPr>
            <a:r>
              <a:t>Rappels sur les bonnes pratiques de programmation</a:t>
            </a:r>
          </a:p>
          <a:p>
            <a:pPr lvl="1" marL="868680" indent="-411480">
              <a:buSzPct val="100000"/>
              <a:buFont typeface="Arial"/>
              <a:buChar char="•"/>
              <a:defRPr sz="1200"/>
            </a:pPr>
            <a:r>
              <a:t>Spécificités liées au déploiement d’IA</a:t>
            </a:r>
          </a:p>
          <a:p>
            <a:pPr lvl="1" marL="868680" indent="-411480">
              <a:buSzPct val="100000"/>
              <a:buFont typeface="Arial"/>
              <a:buChar char="•"/>
              <a:defRPr sz="1200"/>
            </a:pPr>
            <a:r>
              <a:t>Lancement des projets</a:t>
            </a:r>
          </a:p>
          <a:p>
            <a:pPr>
              <a:defRPr sz="1200"/>
            </a:pPr>
          </a:p>
          <a:p>
            <a:pPr>
              <a:defRPr b="1">
                <a:solidFill>
                  <a:srgbClr val="FF7979"/>
                </a:solidFill>
              </a:defRPr>
            </a:pPr>
            <a:r>
              <a:t>Séance 2 </a:t>
            </a:r>
            <a:r>
              <a:rPr b="0" sz="1200"/>
              <a:t>Mario DEFRANCE</a:t>
            </a:r>
            <a:endParaRPr b="0" sz="1200"/>
          </a:p>
          <a:p>
            <a:pPr>
              <a:defRPr sz="1200"/>
            </a:pPr>
          </a:p>
          <a:p>
            <a:pPr lvl="1" marL="800100" indent="-342900" algn="just">
              <a:buSzPct val="100000"/>
              <a:buFont typeface="Arial"/>
              <a:buChar char="•"/>
              <a:defRPr sz="1200"/>
            </a:pPr>
            <a:r>
              <a:t>Continuation des projets</a:t>
            </a:r>
          </a:p>
          <a:p>
            <a:pPr lvl="1" marL="800100" indent="-342900" algn="just">
              <a:buSzPct val="100000"/>
              <a:buFont typeface="Arial"/>
              <a:buChar char="•"/>
              <a:defRPr sz="1200"/>
            </a:pPr>
            <a:r>
              <a:t>Présentation du rendu attendu</a:t>
            </a:r>
          </a:p>
          <a:p>
            <a:pPr>
              <a:defRPr sz="1200"/>
            </a:pPr>
          </a:p>
          <a:p>
            <a:pPr>
              <a:defRPr b="1">
                <a:solidFill>
                  <a:srgbClr val="FF7979"/>
                </a:solidFill>
              </a:defRPr>
            </a:pPr>
            <a:r>
              <a:t>Séance 3 </a:t>
            </a:r>
            <a:r>
              <a:rPr b="0" sz="1200"/>
              <a:t>Zacharie BUISSON &amp; Mario DEFRANCE</a:t>
            </a:r>
            <a:endParaRPr b="0" sz="1200"/>
          </a:p>
          <a:p>
            <a:pPr>
              <a:defRPr b="1" sz="1200"/>
            </a:pPr>
          </a:p>
          <a:p>
            <a:pPr lvl="1" marL="868680" indent="-411480">
              <a:buSzPct val="100000"/>
              <a:buFont typeface="Arial"/>
              <a:buChar char="•"/>
              <a:defRPr sz="1200"/>
            </a:pPr>
            <a:r>
              <a:t>Finalisation des projets</a:t>
            </a:r>
          </a:p>
          <a:p>
            <a:pPr lvl="1" marL="868680" indent="-411480">
              <a:buSzPct val="100000"/>
              <a:buFont typeface="Arial"/>
              <a:buChar char="•"/>
              <a:defRPr sz="1200"/>
            </a:pPr>
            <a:r>
              <a:t>Soutenance des projets (15 min présentation + 10 min questions)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Espace réservé du pied de page 6"/>
          <p:cNvSpPr txBox="1"/>
          <p:nvPr/>
        </p:nvSpPr>
        <p:spPr>
          <a:xfrm>
            <a:off x="4211320" y="6502336"/>
            <a:ext cx="404452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Industrialisation IA</a:t>
            </a:r>
          </a:p>
        </p:txBody>
      </p:sp>
      <p:sp>
        <p:nvSpPr>
          <p:cNvPr id="159" name="Espace réservé de la date 3"/>
          <p:cNvSpPr txBox="1"/>
          <p:nvPr/>
        </p:nvSpPr>
        <p:spPr>
          <a:xfrm>
            <a:off x="352637" y="6502336"/>
            <a:ext cx="27533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27.04.25</a:t>
            </a:r>
          </a:p>
        </p:txBody>
      </p:sp>
      <p:sp>
        <p:nvSpPr>
          <p:cNvPr id="160" name="Espace réservé du numéro de diapositive 5"/>
          <p:cNvSpPr txBox="1"/>
          <p:nvPr>
            <p:ph type="sldNum" sz="quarter" idx="2"/>
          </p:nvPr>
        </p:nvSpPr>
        <p:spPr>
          <a:xfrm>
            <a:off x="11690828" y="6502336"/>
            <a:ext cx="194256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163" name="Espace réservé du contenu 2"/>
          <p:cNvGrpSpPr/>
          <p:nvPr/>
        </p:nvGrpSpPr>
        <p:grpSpPr>
          <a:xfrm>
            <a:off x="1017269" y="1600200"/>
            <a:ext cx="10149842" cy="4320000"/>
            <a:chOff x="0" y="0"/>
            <a:chExt cx="10149840" cy="4319999"/>
          </a:xfrm>
        </p:grpSpPr>
        <p:sp>
          <p:nvSpPr>
            <p:cNvPr id="161" name="Rectangle"/>
            <p:cNvSpPr/>
            <p:nvPr/>
          </p:nvSpPr>
          <p:spPr>
            <a:xfrm>
              <a:off x="-1" y="0"/>
              <a:ext cx="10149842" cy="4320000"/>
            </a:xfrm>
            <a:prstGeom prst="rect">
              <a:avLst/>
            </a:prstGeom>
            <a:solidFill>
              <a:srgbClr val="E2F6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spcBef>
                  <a:spcPts val="300"/>
                </a:spcBef>
                <a:defRPr sz="14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</a:p>
          </p:txBody>
        </p:sp>
        <p:sp>
          <p:nvSpPr>
            <p:cNvPr id="162" name="Contexte"/>
            <p:cNvSpPr txBox="1"/>
            <p:nvPr/>
          </p:nvSpPr>
          <p:spPr>
            <a:xfrm>
              <a:off x="54863" y="0"/>
              <a:ext cx="10040113" cy="4320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4864" tIns="54864" rIns="54864" bIns="54864" numCol="1" anchor="ctr">
              <a:normAutofit fontScale="100000" lnSpcReduction="0"/>
            </a:bodyPr>
            <a:lstStyle>
              <a:lvl1pPr algn="ctr" defTabSz="457200">
                <a:spcBef>
                  <a:spcPts val="1000"/>
                </a:spcBef>
                <a:defRPr b="1" sz="4300"/>
              </a:lvl1pPr>
            </a:lstStyle>
            <a:p>
              <a:pPr/>
              <a:r>
                <a:t>Contexte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Espace réservé du pied de page 4"/>
          <p:cNvSpPr txBox="1"/>
          <p:nvPr/>
        </p:nvSpPr>
        <p:spPr>
          <a:xfrm>
            <a:off x="4211320" y="6502336"/>
            <a:ext cx="404452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Industrialisation IA</a:t>
            </a:r>
          </a:p>
        </p:txBody>
      </p:sp>
      <p:sp>
        <p:nvSpPr>
          <p:cNvPr id="166" name="Titr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2100"/>
            </a:lvl1pPr>
          </a:lstStyle>
          <a:p>
            <a:pPr/>
            <a:r>
              <a:t>Comment valoriser le travail des Data Scientist = ML Engineer</a:t>
            </a:r>
          </a:p>
        </p:txBody>
      </p:sp>
      <p:sp>
        <p:nvSpPr>
          <p:cNvPr id="167" name="Espace réservé de la date 3"/>
          <p:cNvSpPr txBox="1"/>
          <p:nvPr/>
        </p:nvSpPr>
        <p:spPr>
          <a:xfrm>
            <a:off x="352637" y="6502336"/>
            <a:ext cx="27533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27.04.25</a:t>
            </a:r>
          </a:p>
        </p:txBody>
      </p:sp>
      <p:sp>
        <p:nvSpPr>
          <p:cNvPr id="168" name="Espace réservé du numéro de diapositive 5"/>
          <p:cNvSpPr txBox="1"/>
          <p:nvPr>
            <p:ph type="sldNum" sz="quarter" idx="2"/>
          </p:nvPr>
        </p:nvSpPr>
        <p:spPr>
          <a:xfrm>
            <a:off x="11690828" y="6502336"/>
            <a:ext cx="194256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6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6123" y="2072639"/>
            <a:ext cx="4547436" cy="3413761"/>
          </a:xfrm>
          <a:prstGeom prst="rect">
            <a:avLst/>
          </a:prstGeom>
          <a:ln w="12700">
            <a:miter lim="400000"/>
          </a:ln>
        </p:spPr>
      </p:pic>
      <p:sp>
        <p:nvSpPr>
          <p:cNvPr id="170" name="ZoneTexte 3"/>
          <p:cNvSpPr txBox="1"/>
          <p:nvPr/>
        </p:nvSpPr>
        <p:spPr>
          <a:xfrm>
            <a:off x="5498364" y="2994223"/>
            <a:ext cx="6019801" cy="157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buSzPct val="100000"/>
              <a:buFont typeface="Arial"/>
              <a:buChar char="•"/>
              <a:defRPr sz="1600">
                <a:solidFill>
                  <a:srgbClr val="0F141A"/>
                </a:solidFill>
              </a:defRPr>
            </a:pPr>
            <a:r>
              <a:t>Vous avez construit votre modèle de Machine Learning / IA</a:t>
            </a:r>
          </a:p>
          <a:p>
            <a:pPr lvl="1" marL="742950" indent="-285750">
              <a:buSzPct val="100000"/>
              <a:buChar char="➢"/>
              <a:defRPr b="1" sz="1600">
                <a:solidFill>
                  <a:srgbClr val="0F141A"/>
                </a:solidFill>
              </a:defRPr>
            </a:pPr>
            <a:r>
              <a:t>Il ne sert à rien !</a:t>
            </a:r>
          </a:p>
          <a:p>
            <a:pPr>
              <a:defRPr sz="1600">
                <a:solidFill>
                  <a:srgbClr val="0F141A"/>
                </a:solidFill>
              </a:defRPr>
            </a:pPr>
          </a:p>
          <a:p>
            <a:pPr>
              <a:defRPr sz="1600">
                <a:solidFill>
                  <a:srgbClr val="0F141A"/>
                </a:solidFill>
              </a:defRPr>
            </a:pPr>
            <a:r>
              <a:t>Pour le valoriser, vous allez :</a:t>
            </a:r>
          </a:p>
          <a:p>
            <a:pPr marL="285750" indent="-285750">
              <a:buSzPct val="100000"/>
              <a:buFont typeface="Arial"/>
              <a:buChar char="•"/>
              <a:defRPr sz="1600">
                <a:solidFill>
                  <a:srgbClr val="0F141A"/>
                </a:solidFill>
              </a:defRPr>
            </a:pPr>
            <a:r>
              <a:t>le rendre disponible aux utilisateurs à travers une API</a:t>
            </a:r>
          </a:p>
          <a:p>
            <a:pPr marL="285750" indent="-285750">
              <a:buSzPct val="100000"/>
              <a:buFont typeface="Arial"/>
              <a:buChar char="•"/>
              <a:defRPr sz="1600">
                <a:solidFill>
                  <a:srgbClr val="0F141A"/>
                </a:solidFill>
              </a:defRPr>
            </a:pPr>
            <a:r>
              <a:t>mettre en place une chaîne d’industrialisation automatisée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Espace réservé du pied de page 4"/>
          <p:cNvSpPr txBox="1"/>
          <p:nvPr/>
        </p:nvSpPr>
        <p:spPr>
          <a:xfrm>
            <a:off x="4211320" y="6502336"/>
            <a:ext cx="404452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Industrialisation IA</a:t>
            </a:r>
          </a:p>
        </p:txBody>
      </p:sp>
      <p:sp>
        <p:nvSpPr>
          <p:cNvPr id="173" name="Titr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2100"/>
            </a:lvl1pPr>
          </a:lstStyle>
          <a:p>
            <a:pPr/>
            <a:r>
              <a:t>Une course effrénée à la livraison de nouvelles fonctionnalités</a:t>
            </a:r>
          </a:p>
        </p:txBody>
      </p:sp>
      <p:sp>
        <p:nvSpPr>
          <p:cNvPr id="174" name="Espace réservé de la date 3"/>
          <p:cNvSpPr txBox="1"/>
          <p:nvPr/>
        </p:nvSpPr>
        <p:spPr>
          <a:xfrm>
            <a:off x="352637" y="6502336"/>
            <a:ext cx="27533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27.04.25</a:t>
            </a:r>
          </a:p>
        </p:txBody>
      </p:sp>
      <p:sp>
        <p:nvSpPr>
          <p:cNvPr id="175" name="Espace réservé du numéro de diapositive 5"/>
          <p:cNvSpPr txBox="1"/>
          <p:nvPr>
            <p:ph type="sldNum" sz="quarter" idx="2"/>
          </p:nvPr>
        </p:nvSpPr>
        <p:spPr>
          <a:xfrm>
            <a:off x="11690828" y="6502336"/>
            <a:ext cx="194256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76" name="ZoneTexte 3"/>
          <p:cNvSpPr txBox="1"/>
          <p:nvPr/>
        </p:nvSpPr>
        <p:spPr>
          <a:xfrm>
            <a:off x="4526279" y="1616009"/>
            <a:ext cx="7313085" cy="411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600">
                <a:solidFill>
                  <a:srgbClr val="0F141A"/>
                </a:solidFill>
              </a:defRPr>
            </a:pPr>
            <a:r>
              <a:t>Livraison d’un projet IA : 2 mois à 3 ans</a:t>
            </a:r>
          </a:p>
          <a:p>
            <a:pPr>
              <a:defRPr sz="1600">
                <a:solidFill>
                  <a:srgbClr val="0F141A"/>
                </a:solidFill>
              </a:defRPr>
            </a:pPr>
          </a:p>
          <a:p>
            <a:pPr>
              <a:defRPr sz="1600">
                <a:solidFill>
                  <a:srgbClr val="0F141A"/>
                </a:solidFill>
              </a:defRPr>
            </a:pPr>
            <a:r>
              <a:t>Pour une même fonctionnalité, plus le temps de livraison est long:</a:t>
            </a:r>
          </a:p>
          <a:p>
            <a:pPr marL="285750" indent="-285750">
              <a:buSzPct val="100000"/>
              <a:buFont typeface="Arial"/>
              <a:buChar char="•"/>
              <a:defRPr sz="1600">
                <a:solidFill>
                  <a:srgbClr val="0F141A"/>
                </a:solidFill>
              </a:defRPr>
            </a:pPr>
            <a:r>
              <a:t>Plus les utilisateurs se tourneront vers un service concurrent :</a:t>
            </a:r>
          </a:p>
          <a:p>
            <a:pPr lvl="1" marL="742950" indent="-285750">
              <a:buSzPct val="100000"/>
              <a:buFont typeface="Arial"/>
              <a:buChar char="•"/>
              <a:defRPr sz="1600">
                <a:solidFill>
                  <a:srgbClr val="0F141A"/>
                </a:solidFill>
              </a:defRPr>
            </a:pPr>
            <a:r>
              <a:t>ChatGPT interne vs ChatGPT externe</a:t>
            </a:r>
          </a:p>
          <a:p>
            <a:pPr lvl="1" marL="742950" indent="-285750">
              <a:buSzPct val="100000"/>
              <a:buChar char="➢"/>
              <a:defRPr sz="1600">
                <a:solidFill>
                  <a:srgbClr val="0F141A"/>
                </a:solidFill>
              </a:defRPr>
            </a:pPr>
            <a:r>
              <a:t>Problèmes de sécurité des données</a:t>
            </a:r>
          </a:p>
          <a:p>
            <a:pPr lvl="1" marL="742950" indent="-285750">
              <a:buSzPct val="100000"/>
              <a:buChar char="➢"/>
              <a:defRPr sz="1600">
                <a:solidFill>
                  <a:srgbClr val="0F141A"/>
                </a:solidFill>
              </a:defRPr>
            </a:pPr>
            <a:r>
              <a:t>Perte de clients</a:t>
            </a:r>
          </a:p>
          <a:p>
            <a:pPr lvl="1" marL="742950" indent="-285750">
              <a:buSzPct val="100000"/>
              <a:buChar char="➢"/>
              <a:defRPr sz="1600">
                <a:solidFill>
                  <a:srgbClr val="0F141A"/>
                </a:solidFill>
              </a:defRPr>
            </a:pPr>
            <a:r>
              <a:t>Déception des collègues qui préfèrent se tourner vers des prestataires externes, start-ups…</a:t>
            </a:r>
          </a:p>
          <a:p>
            <a:pPr>
              <a:defRPr sz="1600">
                <a:solidFill>
                  <a:srgbClr val="0F141A"/>
                </a:solidFill>
              </a:defRPr>
            </a:pPr>
          </a:p>
          <a:p>
            <a:pPr marL="285750" indent="-285750">
              <a:buSzPct val="100000"/>
              <a:buFont typeface="Arial"/>
              <a:buChar char="•"/>
              <a:defRPr sz="1600">
                <a:solidFill>
                  <a:srgbClr val="0F141A"/>
                </a:solidFill>
              </a:defRPr>
            </a:pPr>
            <a:r>
              <a:t>Plus il faut payer le data scientist longtemps…</a:t>
            </a:r>
          </a:p>
          <a:p>
            <a:pPr marL="285750" indent="-285750">
              <a:buSzPct val="100000"/>
              <a:buFont typeface="Arial"/>
              <a:buChar char="•"/>
              <a:defRPr sz="1600">
                <a:solidFill>
                  <a:srgbClr val="0F141A"/>
                </a:solidFill>
              </a:defRPr>
            </a:pPr>
            <a:r>
              <a:t>… plus le ROI du projet diminue</a:t>
            </a:r>
          </a:p>
          <a:p>
            <a:pPr marL="285750" indent="-285750">
              <a:buSzPct val="100000"/>
              <a:buFont typeface="Arial"/>
              <a:buChar char="•"/>
              <a:defRPr sz="1600">
                <a:solidFill>
                  <a:srgbClr val="0F141A"/>
                </a:solidFill>
              </a:defRPr>
            </a:pPr>
            <a:r>
              <a:t>Plus il faudra de temps pour itérer et corriger les erreurs en production et répondre aux nouveaux besoins métiers…</a:t>
            </a:r>
          </a:p>
          <a:p>
            <a:pPr>
              <a:defRPr sz="1600">
                <a:solidFill>
                  <a:srgbClr val="0F141A"/>
                </a:solidFill>
              </a:defRPr>
            </a:pPr>
          </a:p>
          <a:p>
            <a:pPr marL="285750" indent="-285750">
              <a:buSzPct val="100000"/>
              <a:buChar char="➢"/>
              <a:defRPr sz="1600">
                <a:solidFill>
                  <a:srgbClr val="0F141A"/>
                </a:solidFill>
              </a:defRPr>
            </a:pPr>
            <a:r>
              <a:t>Nécessité d’automatiser l’industrialisation pour livrer le plus vite possible</a:t>
            </a:r>
          </a:p>
        </p:txBody>
      </p:sp>
      <p:pic>
        <p:nvPicPr>
          <p:cNvPr id="177" name="Image 4" descr="Imag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85516" y="1507360"/>
            <a:ext cx="3088645" cy="463296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Espace réservé du pied de page 4"/>
          <p:cNvSpPr txBox="1"/>
          <p:nvPr/>
        </p:nvSpPr>
        <p:spPr>
          <a:xfrm>
            <a:off x="4211320" y="6502336"/>
            <a:ext cx="404452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Industrialisation IA</a:t>
            </a:r>
          </a:p>
        </p:txBody>
      </p:sp>
      <p:sp>
        <p:nvSpPr>
          <p:cNvPr id="180" name="Titr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2100"/>
            </a:lvl1pPr>
          </a:lstStyle>
          <a:p>
            <a:pPr/>
            <a:r>
              <a:t>Réconcilier les visions : Data Scientist vs Métier vs Utilisateur</a:t>
            </a:r>
          </a:p>
        </p:txBody>
      </p:sp>
      <p:sp>
        <p:nvSpPr>
          <p:cNvPr id="181" name="Espace réservé de la date 3"/>
          <p:cNvSpPr txBox="1"/>
          <p:nvPr/>
        </p:nvSpPr>
        <p:spPr>
          <a:xfrm>
            <a:off x="352637" y="6502336"/>
            <a:ext cx="27533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27.04.25</a:t>
            </a:r>
          </a:p>
        </p:txBody>
      </p:sp>
      <p:sp>
        <p:nvSpPr>
          <p:cNvPr id="182" name="Espace réservé du numéro de diapositive 5"/>
          <p:cNvSpPr txBox="1"/>
          <p:nvPr>
            <p:ph type="sldNum" sz="quarter" idx="2"/>
          </p:nvPr>
        </p:nvSpPr>
        <p:spPr>
          <a:xfrm>
            <a:off x="11690828" y="6502336"/>
            <a:ext cx="194256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83" name="ZoneTexte 3"/>
          <p:cNvSpPr txBox="1"/>
          <p:nvPr/>
        </p:nvSpPr>
        <p:spPr>
          <a:xfrm>
            <a:off x="4526279" y="2115153"/>
            <a:ext cx="7313085" cy="309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600">
                <a:solidFill>
                  <a:srgbClr val="0F141A"/>
                </a:solidFill>
              </a:defRPr>
            </a:pPr>
            <a:r>
              <a:t>L’intérêt de la solution reste à démontrer en production !</a:t>
            </a:r>
          </a:p>
          <a:p>
            <a:pPr>
              <a:defRPr sz="1600">
                <a:solidFill>
                  <a:srgbClr val="0F141A"/>
                </a:solidFill>
              </a:defRPr>
            </a:pPr>
          </a:p>
          <a:p>
            <a:pPr marL="285750" indent="-285750">
              <a:buSzPct val="100000"/>
              <a:buFont typeface="Arial"/>
              <a:buChar char="•"/>
              <a:defRPr sz="1600">
                <a:solidFill>
                  <a:srgbClr val="0F141A"/>
                </a:solidFill>
              </a:defRPr>
            </a:pPr>
            <a:r>
              <a:t>Besoin de monitoring des performances</a:t>
            </a:r>
          </a:p>
          <a:p>
            <a:pPr lvl="1" marL="742950" indent="-285750">
              <a:buSzPct val="100000"/>
              <a:buFont typeface="Arial"/>
              <a:buChar char="•"/>
              <a:defRPr sz="1600">
                <a:solidFill>
                  <a:srgbClr val="0F141A"/>
                </a:solidFill>
              </a:defRPr>
            </a:pPr>
            <a:r>
              <a:t>Est-ce que la solution est utilisée ?</a:t>
            </a:r>
          </a:p>
          <a:p>
            <a:pPr lvl="1" marL="742950" indent="-285750">
              <a:buSzPct val="100000"/>
              <a:buFont typeface="Arial"/>
              <a:buChar char="•"/>
              <a:defRPr sz="1600">
                <a:solidFill>
                  <a:srgbClr val="0F141A"/>
                </a:solidFill>
              </a:defRPr>
            </a:pPr>
            <a:r>
              <a:t>Est-ce que la solution fonctionne ?</a:t>
            </a:r>
          </a:p>
          <a:p>
            <a:pPr lvl="1" marL="742950" indent="-285750">
              <a:buSzPct val="100000"/>
              <a:buFont typeface="Arial"/>
              <a:buChar char="•"/>
              <a:defRPr sz="1600">
                <a:solidFill>
                  <a:srgbClr val="0F141A"/>
                </a:solidFill>
              </a:defRPr>
            </a:pPr>
            <a:r>
              <a:t>Est-ce que la solution est performante ?</a:t>
            </a:r>
          </a:p>
          <a:p>
            <a:pPr lvl="1" marL="742950" indent="-285750">
              <a:buSzPct val="100000"/>
              <a:buFont typeface="Arial"/>
              <a:buChar char="•"/>
              <a:defRPr sz="1600">
                <a:solidFill>
                  <a:srgbClr val="0F141A"/>
                </a:solidFill>
              </a:defRPr>
            </a:pPr>
          </a:p>
          <a:p>
            <a:pPr marL="285750" indent="-285750">
              <a:buSzPct val="100000"/>
              <a:buFont typeface="Arial"/>
              <a:buChar char="•"/>
              <a:defRPr sz="1600">
                <a:solidFill>
                  <a:srgbClr val="0F141A"/>
                </a:solidFill>
              </a:defRPr>
            </a:pPr>
            <a:r>
              <a:t>Besoin de feedback utilisateurs (pas forcément évident en IA…)</a:t>
            </a:r>
          </a:p>
          <a:p>
            <a:pPr lvl="1" marL="742950" indent="-285750">
              <a:buSzPct val="100000"/>
              <a:buFont typeface="Arial"/>
              <a:buChar char="•"/>
              <a:defRPr sz="1600">
                <a:solidFill>
                  <a:srgbClr val="0F141A"/>
                </a:solidFill>
              </a:defRPr>
            </a:pPr>
            <a:r>
              <a:t>Biais de sélection: comment savoir si un prospect qui n’a pas pris un prêt chez nous l’aurait payé ?</a:t>
            </a:r>
          </a:p>
          <a:p>
            <a:pPr lvl="1" marL="742950" indent="-285750">
              <a:buSzPct val="100000"/>
              <a:buFont typeface="Arial"/>
              <a:buChar char="•"/>
              <a:defRPr sz="1600">
                <a:solidFill>
                  <a:srgbClr val="0F141A"/>
                </a:solidFill>
              </a:defRPr>
            </a:pPr>
            <a:r>
              <a:t>Comment savoir si un utilisateur à utiliser la prédiction de l’IA ? sans ajouter de surcharge ?</a:t>
            </a:r>
          </a:p>
        </p:txBody>
      </p:sp>
      <p:pic>
        <p:nvPicPr>
          <p:cNvPr id="184" name="Image 5" descr="Imag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9600" y="1600813"/>
            <a:ext cx="3556000" cy="4445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Espace réservé du pied de page 4"/>
          <p:cNvSpPr txBox="1"/>
          <p:nvPr/>
        </p:nvSpPr>
        <p:spPr>
          <a:xfrm>
            <a:off x="4211320" y="6502336"/>
            <a:ext cx="404452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Industrialisation IA</a:t>
            </a:r>
          </a:p>
        </p:txBody>
      </p:sp>
      <p:sp>
        <p:nvSpPr>
          <p:cNvPr id="187" name="Espace réservé de la date 3"/>
          <p:cNvSpPr txBox="1"/>
          <p:nvPr/>
        </p:nvSpPr>
        <p:spPr>
          <a:xfrm>
            <a:off x="352637" y="6502336"/>
            <a:ext cx="27533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27.04.25</a:t>
            </a:r>
          </a:p>
        </p:txBody>
      </p:sp>
      <p:sp>
        <p:nvSpPr>
          <p:cNvPr id="188" name="Espace réservé du numéro de diapositive 5"/>
          <p:cNvSpPr txBox="1"/>
          <p:nvPr>
            <p:ph type="sldNum" sz="quarter" idx="2"/>
          </p:nvPr>
        </p:nvSpPr>
        <p:spPr>
          <a:xfrm>
            <a:off x="11688658" y="6502336"/>
            <a:ext cx="196426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aphicFrame>
        <p:nvGraphicFramePr>
          <p:cNvPr id="189" name="Tableau 7"/>
          <p:cNvGraphicFramePr/>
          <p:nvPr/>
        </p:nvGraphicFramePr>
        <p:xfrm>
          <a:off x="1111546" y="1883441"/>
          <a:ext cx="10023170" cy="3541163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670528"/>
                <a:gridCol w="1670528"/>
                <a:gridCol w="1670528"/>
                <a:gridCol w="1670528"/>
                <a:gridCol w="1670528"/>
                <a:gridCol w="1670528"/>
              </a:tblGrid>
              <a:tr h="528683">
                <a:tc>
                  <a:txBody>
                    <a:bodyPr/>
                    <a:lstStyle/>
                    <a:p>
                      <a:pPr algn="ctr" defTabSz="54864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/>
                        <a:t>Expression de besoin métier</a:t>
                      </a:r>
                    </a:p>
                  </a:txBody>
                  <a:tcPr marL="54864" marR="54864" marT="54864" marB="54864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4864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/>
                        <a:t>Cadrage</a:t>
                      </a:r>
                    </a:p>
                  </a:txBody>
                  <a:tcPr marL="54864" marR="54864" marT="54864" marB="54864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4864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/>
                        <a:t>Architecture</a:t>
                      </a:r>
                    </a:p>
                  </a:txBody>
                  <a:tcPr marL="54864" marR="54864" marT="54864" marB="54864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4864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/>
                        <a:t>Conception de la solution</a:t>
                      </a:r>
                    </a:p>
                  </a:txBody>
                  <a:tcPr marL="54864" marR="54864" marT="54864" marB="54864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4864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/>
                        <a:t>Mise en production</a:t>
                      </a:r>
                    </a:p>
                  </a:txBody>
                  <a:tcPr marL="54864" marR="54864" marT="54864" marB="54864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4864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/>
                        <a:t>Monitoring</a:t>
                      </a:r>
                    </a:p>
                  </a:txBody>
                  <a:tcPr marL="54864" marR="54864" marT="54864" marB="54864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solidFill>
                      <a:srgbClr val="95B3D7"/>
                    </a:solidFill>
                  </a:tcPr>
                </a:tc>
              </a:tr>
              <a:tr h="3012480">
                <a:tc>
                  <a:txBody>
                    <a:bodyPr/>
                    <a:lstStyle/>
                    <a:p>
                      <a:pPr algn="just">
                        <a:defRPr b="1" sz="1200">
                          <a:solidFill>
                            <a:schemeClr val="accent5"/>
                          </a:solidFill>
                        </a:defRPr>
                      </a:pPr>
                      <a:r>
                        <a:t>Le métier </a:t>
                      </a:r>
                      <a:r>
                        <a:rPr b="0">
                          <a:solidFill>
                            <a:srgbClr val="000000"/>
                          </a:solidFill>
                        </a:rPr>
                        <a:t>exprime son besoin au travers d’une fiche </a:t>
                      </a:r>
                      <a:r>
                        <a:rPr>
                          <a:solidFill>
                            <a:srgbClr val="000000"/>
                          </a:solidFill>
                        </a:rPr>
                        <a:t>d’étude d’opportunité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L="43200" marR="43200" marT="43200" marB="43200" anchor="ctr" anchorCtr="0" horzOverflow="overflow"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defRPr sz="1200"/>
                      </a:pPr>
                      <a:r>
                        <a:t>La fiche d’opportunité est réceptionnée par un </a:t>
                      </a:r>
                      <a:r>
                        <a:rPr b="1">
                          <a:solidFill>
                            <a:schemeClr val="accent5"/>
                          </a:solidFill>
                        </a:rPr>
                        <a:t>Chef de projet IT</a:t>
                      </a:r>
                      <a:r>
                        <a:t>, qui prend en charge </a:t>
                      </a:r>
                      <a:r>
                        <a:rPr b="1"/>
                        <a:t>l’étude de cadrage </a:t>
                      </a:r>
                    </a:p>
                  </a:txBody>
                  <a:tcPr marL="43200" marR="43200" marT="43200" marB="43200" anchor="ctr" anchorCtr="0" horzOverflow="overflow"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defRPr b="1" sz="1200">
                          <a:solidFill>
                            <a:schemeClr val="accent5"/>
                          </a:solidFill>
                        </a:defRPr>
                      </a:pPr>
                      <a:r>
                        <a:t>Les Data Architects</a:t>
                      </a:r>
                      <a:r>
                        <a:rPr b="0">
                          <a:solidFill>
                            <a:srgbClr val="000000"/>
                          </a:solidFill>
                        </a:rPr>
                        <a:t> sont sollicités pour le choix de la solution. Le chef de projet IT et les data architects décident d’orienter l’instruction de la solution au travers d’un </a:t>
                      </a:r>
                      <a:r>
                        <a:rPr>
                          <a:solidFill>
                            <a:srgbClr val="000000"/>
                          </a:solidFill>
                        </a:rPr>
                        <a:t>produit Data/IA</a:t>
                      </a:r>
                      <a:r>
                        <a:rPr b="0">
                          <a:solidFill>
                            <a:srgbClr val="000000"/>
                          </a:solidFill>
                        </a:rPr>
                        <a:t>. </a:t>
                      </a:r>
                    </a:p>
                  </a:txBody>
                  <a:tcPr marL="43200" marR="43200" marT="43200" marB="43200" anchor="ctr" anchorCtr="0" horzOverflow="overflow"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just" defTabSz="457200">
                        <a:defRPr sz="1200">
                          <a:solidFill>
                            <a:srgbClr val="494949"/>
                          </a:solidFill>
                        </a:defRPr>
                      </a:pPr>
                      <a:r>
                        <a:t>Le </a:t>
                      </a:r>
                      <a:r>
                        <a:rPr b="1">
                          <a:solidFill>
                            <a:schemeClr val="accent5"/>
                          </a:solidFill>
                        </a:rPr>
                        <a:t>Chef de projet Data/IA</a:t>
                      </a:r>
                      <a:r>
                        <a:rPr b="1"/>
                        <a:t> </a:t>
                      </a:r>
                      <a:r>
                        <a:t>est responsable du cadrage de la solution. Il définit les </a:t>
                      </a:r>
                      <a:r>
                        <a:rPr b="1"/>
                        <a:t>objectifs du projet </a:t>
                      </a:r>
                      <a:r>
                        <a:t>et les </a:t>
                      </a:r>
                      <a:r>
                        <a:rPr b="1"/>
                        <a:t>moyens technologiques </a:t>
                      </a:r>
                      <a:r>
                        <a:t>à utiliser et les </a:t>
                      </a:r>
                      <a:r>
                        <a:rPr b="1"/>
                        <a:t>contraintes à respecter </a:t>
                      </a:r>
                      <a:r>
                        <a:t>(sécurité, budget). </a:t>
                      </a:r>
                      <a:r>
                        <a:rPr>
                          <a:solidFill>
                            <a:srgbClr val="E46C0A"/>
                          </a:solidFill>
                        </a:rPr>
                        <a:t>Les </a:t>
                      </a:r>
                      <a:r>
                        <a:rPr b="1">
                          <a:solidFill>
                            <a:srgbClr val="E46C0A"/>
                          </a:solidFill>
                        </a:rPr>
                        <a:t>Data Scientists / Analysts </a:t>
                      </a:r>
                      <a:r>
                        <a:rPr>
                          <a:solidFill>
                            <a:srgbClr val="E46C0A"/>
                          </a:solidFill>
                        </a:rPr>
                        <a:t>sont mobilisés pour élaborer une solution respectant les critères définis par le CP Data. </a:t>
                      </a:r>
                    </a:p>
                  </a:txBody>
                  <a:tcPr marL="43200" marR="43200" marT="43200" marB="43200" anchor="ctr" anchorCtr="0" horzOverflow="overflow"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defRPr sz="1200"/>
                      </a:pPr>
                      <a:r>
                        <a:t>La solution est </a:t>
                      </a:r>
                      <a:r>
                        <a:rPr b="1"/>
                        <a:t>intégrée dans le SI</a:t>
                      </a:r>
                      <a:r>
                        <a:t> et déployée en production par les</a:t>
                      </a:r>
                      <a:r>
                        <a:rPr b="1"/>
                        <a:t> </a:t>
                      </a:r>
                      <a:r>
                        <a:rPr b="1">
                          <a:solidFill>
                            <a:schemeClr val="accent5"/>
                          </a:solidFill>
                        </a:rPr>
                        <a:t>Data Engineers</a:t>
                      </a:r>
                      <a:r>
                        <a:rPr>
                          <a:solidFill>
                            <a:schemeClr val="accent5"/>
                          </a:solidFill>
                        </a:rPr>
                        <a:t>.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</a:txBody>
                  <a:tcPr marL="43200" marR="43200" marT="43200" marB="43200" anchor="ctr" anchorCtr="0" horzOverflow="overflow"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defRPr sz="1200"/>
                      </a:pPr>
                      <a:r>
                        <a:t>La solution est documentée et inscrite au sein du référentiel de produits Data par le </a:t>
                      </a:r>
                      <a:r>
                        <a:rPr b="1">
                          <a:solidFill>
                            <a:schemeClr val="accent5"/>
                          </a:solidFill>
                        </a:rPr>
                        <a:t>Data Manager</a:t>
                      </a:r>
                      <a:r>
                        <a:t>. </a:t>
                      </a:r>
                    </a:p>
                    <a:p>
                      <a:pPr algn="just">
                        <a:defRPr sz="1200"/>
                      </a:pPr>
                      <a:r>
                        <a:t>Une </a:t>
                      </a:r>
                      <a:r>
                        <a:rPr b="1"/>
                        <a:t>gouvernance </a:t>
                      </a:r>
                      <a:r>
                        <a:t>est mise en place pour assurer le </a:t>
                      </a:r>
                      <a:r>
                        <a:rPr b="1"/>
                        <a:t>monitoring et l’évolution </a:t>
                      </a:r>
                      <a:r>
                        <a:t>de la solution.</a:t>
                      </a:r>
                    </a:p>
                  </a:txBody>
                  <a:tcPr marL="43200" marR="43200" marT="43200" marB="43200" anchor="ctr" anchorCtr="0" horzOverflow="overflow">
                    <a:lnB w="12700">
                      <a:miter lim="400000"/>
                    </a:lnB>
                  </a:tcPr>
                </a:tc>
              </a:tr>
            </a:tbl>
          </a:graphicData>
        </a:graphic>
      </p:graphicFrame>
      <p:sp>
        <p:nvSpPr>
          <p:cNvPr id="190" name="Titre 1"/>
          <p:cNvSpPr txBox="1"/>
          <p:nvPr>
            <p:ph type="title"/>
          </p:nvPr>
        </p:nvSpPr>
        <p:spPr>
          <a:xfrm>
            <a:off x="663865" y="205090"/>
            <a:ext cx="10918537" cy="636269"/>
          </a:xfrm>
          <a:prstGeom prst="rect">
            <a:avLst/>
          </a:prstGeom>
        </p:spPr>
        <p:txBody>
          <a:bodyPr/>
          <a:lstStyle/>
          <a:p>
            <a:pPr/>
            <a:r>
              <a:t>Les rôles et étapes d’un projet Data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Espace réservé du pied de page 4"/>
          <p:cNvSpPr txBox="1"/>
          <p:nvPr/>
        </p:nvSpPr>
        <p:spPr>
          <a:xfrm>
            <a:off x="4211320" y="6502336"/>
            <a:ext cx="404452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Industrialisation IA</a:t>
            </a:r>
          </a:p>
        </p:txBody>
      </p:sp>
      <p:sp>
        <p:nvSpPr>
          <p:cNvPr id="193" name="Espace réservé de la date 3"/>
          <p:cNvSpPr txBox="1"/>
          <p:nvPr/>
        </p:nvSpPr>
        <p:spPr>
          <a:xfrm>
            <a:off x="352637" y="6502336"/>
            <a:ext cx="27533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27.04.25</a:t>
            </a:r>
          </a:p>
        </p:txBody>
      </p:sp>
      <p:sp>
        <p:nvSpPr>
          <p:cNvPr id="194" name="Espace réservé du numéro de diapositive 5"/>
          <p:cNvSpPr txBox="1"/>
          <p:nvPr>
            <p:ph type="sldNum" sz="quarter" idx="2"/>
          </p:nvPr>
        </p:nvSpPr>
        <p:spPr>
          <a:xfrm>
            <a:off x="11690828" y="6502336"/>
            <a:ext cx="194256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197" name="Espace réservé du contenu 2"/>
          <p:cNvGrpSpPr/>
          <p:nvPr/>
        </p:nvGrpSpPr>
        <p:grpSpPr>
          <a:xfrm>
            <a:off x="1017269" y="1600200"/>
            <a:ext cx="10149842" cy="4320000"/>
            <a:chOff x="0" y="0"/>
            <a:chExt cx="10149840" cy="4319999"/>
          </a:xfrm>
        </p:grpSpPr>
        <p:sp>
          <p:nvSpPr>
            <p:cNvPr id="195" name="Rectangle"/>
            <p:cNvSpPr/>
            <p:nvPr/>
          </p:nvSpPr>
          <p:spPr>
            <a:xfrm>
              <a:off x="-1" y="0"/>
              <a:ext cx="10149842" cy="4320000"/>
            </a:xfrm>
            <a:prstGeom prst="rect">
              <a:avLst/>
            </a:prstGeom>
            <a:solidFill>
              <a:srgbClr val="E2F6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spcBef>
                  <a:spcPts val="300"/>
                </a:spcBef>
                <a:defRPr sz="14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</a:p>
          </p:txBody>
        </p:sp>
        <p:sp>
          <p:nvSpPr>
            <p:cNvPr id="196" name="Infrastructure d’entreprise"/>
            <p:cNvSpPr txBox="1"/>
            <p:nvPr/>
          </p:nvSpPr>
          <p:spPr>
            <a:xfrm>
              <a:off x="54863" y="0"/>
              <a:ext cx="10040113" cy="4320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4864" tIns="54864" rIns="54864" bIns="54864" numCol="1" anchor="ctr">
              <a:normAutofit fontScale="100000" lnSpcReduction="0"/>
            </a:bodyPr>
            <a:lstStyle>
              <a:lvl1pPr algn="ctr" defTabSz="457200">
                <a:spcBef>
                  <a:spcPts val="1000"/>
                </a:spcBef>
                <a:defRPr b="1" sz="4300"/>
              </a:lvl1pPr>
            </a:lstStyle>
            <a:p>
              <a:pPr/>
              <a:r>
                <a:t>Infrastructure d’entreprise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Espace réservé du pied de page 4"/>
          <p:cNvSpPr txBox="1"/>
          <p:nvPr/>
        </p:nvSpPr>
        <p:spPr>
          <a:xfrm>
            <a:off x="4211320" y="6502336"/>
            <a:ext cx="404452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Industrialisation IA</a:t>
            </a:r>
          </a:p>
        </p:txBody>
      </p:sp>
      <p:sp>
        <p:nvSpPr>
          <p:cNvPr id="200" name="Titr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Choisis ton environnement - Cloud VS On Premise</a:t>
            </a:r>
          </a:p>
        </p:txBody>
      </p:sp>
      <p:sp>
        <p:nvSpPr>
          <p:cNvPr id="201" name="Espace réservé de la date 3"/>
          <p:cNvSpPr txBox="1"/>
          <p:nvPr/>
        </p:nvSpPr>
        <p:spPr>
          <a:xfrm>
            <a:off x="352637" y="6502336"/>
            <a:ext cx="27533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27.04.25</a:t>
            </a:r>
          </a:p>
        </p:txBody>
      </p:sp>
      <p:sp>
        <p:nvSpPr>
          <p:cNvPr id="202" name="Espace réservé du numéro de diapositive 5"/>
          <p:cNvSpPr txBox="1"/>
          <p:nvPr>
            <p:ph type="sldNum" sz="quarter" idx="2"/>
          </p:nvPr>
        </p:nvSpPr>
        <p:spPr>
          <a:xfrm>
            <a:off x="11690828" y="6502336"/>
            <a:ext cx="194256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03" name="Connecteur droit 4"/>
          <p:cNvSpPr/>
          <p:nvPr/>
        </p:nvSpPr>
        <p:spPr>
          <a:xfrm flipH="1">
            <a:off x="6096000" y="1680751"/>
            <a:ext cx="1" cy="4320001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204" name="vidéo-collée.png" descr="vidéo-collé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9933" y="1600200"/>
            <a:ext cx="634365" cy="634364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" name="vidéo-collée.png" descr="vidéo-collé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362613" y="1600200"/>
            <a:ext cx="634365" cy="634364"/>
          </a:xfrm>
          <a:prstGeom prst="rect">
            <a:avLst/>
          </a:prstGeom>
          <a:ln w="12700">
            <a:miter lim="400000"/>
          </a:ln>
        </p:spPr>
      </p:pic>
      <p:sp>
        <p:nvSpPr>
          <p:cNvPr id="206" name="Choix 1 : Architecture Cloud…"/>
          <p:cNvSpPr txBox="1"/>
          <p:nvPr/>
        </p:nvSpPr>
        <p:spPr>
          <a:xfrm>
            <a:off x="1318896" y="1621035"/>
            <a:ext cx="2736836" cy="5926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/>
            </a:pPr>
            <a:r>
              <a:t>Choix 1 : Architecture Cloud</a:t>
            </a:r>
          </a:p>
          <a:p>
            <a:pPr>
              <a:defRPr i="1" sz="1600"/>
            </a:pPr>
            <a:r>
              <a:t>Une architecture distante </a:t>
            </a:r>
          </a:p>
        </p:txBody>
      </p:sp>
      <p:sp>
        <p:nvSpPr>
          <p:cNvPr id="207" name="Choix 2 : Architecture on premise…"/>
          <p:cNvSpPr txBox="1"/>
          <p:nvPr/>
        </p:nvSpPr>
        <p:spPr>
          <a:xfrm>
            <a:off x="7250890" y="1621035"/>
            <a:ext cx="3253530" cy="5926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/>
            </a:pPr>
            <a:r>
              <a:t>Choix 2 : Architecture on premise</a:t>
            </a:r>
          </a:p>
          <a:p>
            <a:pPr>
              <a:defRPr i="1" sz="1600"/>
            </a:pPr>
            <a:r>
              <a:t>Une architecture à la maison </a:t>
            </a:r>
          </a:p>
        </p:txBody>
      </p:sp>
      <p:pic>
        <p:nvPicPr>
          <p:cNvPr id="208" name="vidéo-collée.png" descr="vidéo-collé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02288" y="5482216"/>
            <a:ext cx="398145" cy="398145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🇺🇸 Azure (Microsoft)"/>
          <p:cNvSpPr txBox="1"/>
          <p:nvPr/>
        </p:nvSpPr>
        <p:spPr>
          <a:xfrm>
            <a:off x="390552" y="5815190"/>
            <a:ext cx="1421617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/>
            </a:lvl1pPr>
          </a:lstStyle>
          <a:p>
            <a:pPr/>
            <a:r>
              <a:t>🇺🇸 Azure (Microsoft)</a:t>
            </a:r>
          </a:p>
        </p:txBody>
      </p:sp>
      <p:pic>
        <p:nvPicPr>
          <p:cNvPr id="210" name="vidéo-collée.png" descr="vidéo-collée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834039" y="5482216"/>
            <a:ext cx="398145" cy="398145"/>
          </a:xfrm>
          <a:prstGeom prst="rect">
            <a:avLst/>
          </a:prstGeom>
          <a:ln w="12700">
            <a:miter lim="400000"/>
          </a:ln>
        </p:spPr>
      </p:pic>
      <p:sp>
        <p:nvSpPr>
          <p:cNvPr id="211" name="🇺🇸 AWS (Amazon)"/>
          <p:cNvSpPr txBox="1"/>
          <p:nvPr/>
        </p:nvSpPr>
        <p:spPr>
          <a:xfrm>
            <a:off x="2405126" y="5815190"/>
            <a:ext cx="1255972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/>
            </a:lvl1pPr>
          </a:lstStyle>
          <a:p>
            <a:pPr/>
            <a:r>
              <a:t>🇺🇸 AWS (Amazon)</a:t>
            </a:r>
          </a:p>
        </p:txBody>
      </p:sp>
      <p:pic>
        <p:nvPicPr>
          <p:cNvPr id="212" name="vidéo-collée.png" descr="vidéo-collée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4765790" y="5482216"/>
            <a:ext cx="398145" cy="398145"/>
          </a:xfrm>
          <a:prstGeom prst="rect">
            <a:avLst/>
          </a:prstGeom>
          <a:ln w="12700">
            <a:miter lim="400000"/>
          </a:ln>
        </p:spPr>
      </p:pic>
      <p:sp>
        <p:nvSpPr>
          <p:cNvPr id="213" name="🇫🇷 OVH"/>
          <p:cNvSpPr txBox="1"/>
          <p:nvPr/>
        </p:nvSpPr>
        <p:spPr>
          <a:xfrm>
            <a:off x="4653732" y="5815190"/>
            <a:ext cx="6222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/>
            </a:lvl1pPr>
          </a:lstStyle>
          <a:p>
            <a:pPr/>
            <a:r>
              <a:t>🇫🇷 OVH</a:t>
            </a:r>
          </a:p>
        </p:txBody>
      </p:sp>
      <p:pic>
        <p:nvPicPr>
          <p:cNvPr id="214" name="vidéo-collée.png" descr="vidéo-collée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618043" y="2558645"/>
            <a:ext cx="280800" cy="280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5" name="vidéo-collée.png" descr="vidéo-collée.png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618043" y="4020430"/>
            <a:ext cx="280800" cy="280800"/>
          </a:xfrm>
          <a:prstGeom prst="rect">
            <a:avLst/>
          </a:prstGeom>
          <a:ln w="12700">
            <a:miter lim="400000"/>
          </a:ln>
        </p:spPr>
      </p:pic>
      <p:sp>
        <p:nvSpPr>
          <p:cNvPr id="216" name="Avantages"/>
          <p:cNvSpPr txBox="1"/>
          <p:nvPr/>
        </p:nvSpPr>
        <p:spPr>
          <a:xfrm>
            <a:off x="994887" y="2558645"/>
            <a:ext cx="85527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1400"/>
            </a:lvl1pPr>
          </a:lstStyle>
          <a:p>
            <a:pPr/>
            <a:r>
              <a:t>Avantages</a:t>
            </a:r>
          </a:p>
        </p:txBody>
      </p:sp>
      <p:sp>
        <p:nvSpPr>
          <p:cNvPr id="217" name="Utilisation à la demande (pay what you use)…"/>
          <p:cNvSpPr txBox="1"/>
          <p:nvPr/>
        </p:nvSpPr>
        <p:spPr>
          <a:xfrm>
            <a:off x="615334" y="2950075"/>
            <a:ext cx="3412700" cy="73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140368" indent="-140368">
              <a:buSzPct val="100000"/>
              <a:buChar char="-"/>
              <a:defRPr i="1" sz="1400"/>
            </a:pPr>
            <a:r>
              <a:t>Utilisation à la demande (pay what you use)</a:t>
            </a:r>
          </a:p>
          <a:p>
            <a:pPr marL="140368" indent="-140368">
              <a:buSzPct val="100000"/>
              <a:buChar char="-"/>
              <a:defRPr i="1" sz="1400"/>
            </a:pPr>
            <a:r>
              <a:t>Services pré existants (délégation software)</a:t>
            </a:r>
          </a:p>
          <a:p>
            <a:pPr marL="140368" indent="-140368">
              <a:buSzPct val="100000"/>
              <a:buChar char="-"/>
              <a:defRPr i="1" sz="1400"/>
            </a:pPr>
            <a:r>
              <a:t>Pas de serveurs (délégation hardware)</a:t>
            </a:r>
          </a:p>
        </p:txBody>
      </p:sp>
      <p:sp>
        <p:nvSpPr>
          <p:cNvPr id="218" name="Dépendance à services externes : obligation de montée de version, suppression de service…"/>
          <p:cNvSpPr txBox="1"/>
          <p:nvPr/>
        </p:nvSpPr>
        <p:spPr>
          <a:xfrm>
            <a:off x="615334" y="4424422"/>
            <a:ext cx="5214054" cy="73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140368" indent="-140368" algn="just">
              <a:buSzPct val="100000"/>
              <a:buChar char="-"/>
              <a:defRPr i="1" sz="1400"/>
            </a:pPr>
            <a:r>
              <a:t>Dépendance à services externes : obligation de montée de version, suppression de service </a:t>
            </a:r>
          </a:p>
          <a:p>
            <a:pPr marL="140368" indent="-140368" algn="just">
              <a:buSzPct val="100000"/>
              <a:buChar char="-"/>
              <a:defRPr i="1" sz="1400"/>
            </a:pPr>
            <a:r>
              <a:t>Protection des données, notamment extra UE</a:t>
            </a:r>
          </a:p>
        </p:txBody>
      </p:sp>
      <p:sp>
        <p:nvSpPr>
          <p:cNvPr id="219" name="Inconvénients"/>
          <p:cNvSpPr txBox="1"/>
          <p:nvPr/>
        </p:nvSpPr>
        <p:spPr>
          <a:xfrm>
            <a:off x="994887" y="4020430"/>
            <a:ext cx="109211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1400"/>
            </a:lvl1pPr>
          </a:lstStyle>
          <a:p>
            <a:pPr/>
            <a:r>
              <a:t>Inconvénients</a:t>
            </a:r>
          </a:p>
        </p:txBody>
      </p:sp>
      <p:pic>
        <p:nvPicPr>
          <p:cNvPr id="220" name="vidéo-collée.png" descr="vidéo-collée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6273338" y="2558645"/>
            <a:ext cx="280800" cy="280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1" name="vidéo-collée.png" descr="vidéo-collée.png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6273338" y="4020430"/>
            <a:ext cx="280800" cy="280800"/>
          </a:xfrm>
          <a:prstGeom prst="rect">
            <a:avLst/>
          </a:prstGeom>
          <a:ln w="12700">
            <a:miter lim="400000"/>
          </a:ln>
        </p:spPr>
      </p:pic>
      <p:sp>
        <p:nvSpPr>
          <p:cNvPr id="222" name="Avantages"/>
          <p:cNvSpPr txBox="1"/>
          <p:nvPr/>
        </p:nvSpPr>
        <p:spPr>
          <a:xfrm>
            <a:off x="6650181" y="2558645"/>
            <a:ext cx="85527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1400"/>
            </a:lvl1pPr>
          </a:lstStyle>
          <a:p>
            <a:pPr/>
            <a:r>
              <a:t>Avantages</a:t>
            </a:r>
          </a:p>
        </p:txBody>
      </p:sp>
      <p:sp>
        <p:nvSpPr>
          <p:cNvPr id="223" name="Flexibilité hardware &amp; software : sur mesure aux besoins…"/>
          <p:cNvSpPr txBox="1"/>
          <p:nvPr/>
        </p:nvSpPr>
        <p:spPr>
          <a:xfrm>
            <a:off x="6270628" y="2950075"/>
            <a:ext cx="4973399" cy="73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140368" indent="-140368">
              <a:buSzPct val="100000"/>
              <a:buChar char="-"/>
              <a:defRPr i="1" sz="1400"/>
            </a:pPr>
            <a:r>
              <a:t>Flexibilité hardware &amp; software : sur mesure aux besoins</a:t>
            </a:r>
          </a:p>
          <a:p>
            <a:pPr marL="140368" indent="-140368">
              <a:buSzPct val="100000"/>
              <a:buChar char="-"/>
              <a:defRPr i="1" sz="1400"/>
            </a:pPr>
            <a:r>
              <a:t>Indépendance aux organismes externes</a:t>
            </a:r>
          </a:p>
          <a:p>
            <a:pPr marL="140368" indent="-140368">
              <a:buSzPct val="100000"/>
              <a:buChar char="-"/>
              <a:defRPr i="1" sz="1400"/>
            </a:pPr>
            <a:r>
              <a:t>Sécurité gérée en interne, pas de problèmes de transit de données</a:t>
            </a:r>
          </a:p>
        </p:txBody>
      </p:sp>
      <p:sp>
        <p:nvSpPr>
          <p:cNvPr id="224" name="Mise à jour hardware et software à la main de l’entreprise : ajout de puissance de calcul manuel……"/>
          <p:cNvSpPr txBox="1"/>
          <p:nvPr/>
        </p:nvSpPr>
        <p:spPr>
          <a:xfrm>
            <a:off x="6270628" y="4424422"/>
            <a:ext cx="5214054" cy="73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140368" indent="-140368" algn="just">
              <a:buSzPct val="100000"/>
              <a:buChar char="-"/>
              <a:defRPr i="1" sz="1400"/>
            </a:pPr>
            <a:r>
              <a:t>Mise à jour hardware et software à la main de l’entreprise : ajout de puissance de calcul manuel…</a:t>
            </a:r>
          </a:p>
          <a:p>
            <a:pPr marL="140368" indent="-140368" algn="just">
              <a:buSzPct val="100000"/>
              <a:buChar char="-"/>
              <a:defRPr i="1" sz="1400"/>
            </a:pPr>
            <a:r>
              <a:t>Recrutement de personnel pour maintenir le système</a:t>
            </a:r>
          </a:p>
        </p:txBody>
      </p:sp>
      <p:sp>
        <p:nvSpPr>
          <p:cNvPr id="225" name="Inconvénients"/>
          <p:cNvSpPr txBox="1"/>
          <p:nvPr/>
        </p:nvSpPr>
        <p:spPr>
          <a:xfrm>
            <a:off x="6650181" y="4020430"/>
            <a:ext cx="109211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1400"/>
            </a:lvl1pPr>
          </a:lstStyle>
          <a:p>
            <a:pPr/>
            <a:r>
              <a:t>Inconvénients</a:t>
            </a:r>
          </a:p>
        </p:txBody>
      </p:sp>
      <p:pic>
        <p:nvPicPr>
          <p:cNvPr id="226" name="vidéo-collée.png" descr="vidéo-collée.png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7485892" y="5488806"/>
            <a:ext cx="398145" cy="398145"/>
          </a:xfrm>
          <a:prstGeom prst="rect">
            <a:avLst/>
          </a:prstGeom>
          <a:ln w="12700">
            <a:miter lim="400000"/>
          </a:ln>
        </p:spPr>
      </p:pic>
      <p:sp>
        <p:nvSpPr>
          <p:cNvPr id="227" name="Docker"/>
          <p:cNvSpPr txBox="1"/>
          <p:nvPr/>
        </p:nvSpPr>
        <p:spPr>
          <a:xfrm>
            <a:off x="7416944" y="5870347"/>
            <a:ext cx="5360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/>
            </a:lvl1pPr>
          </a:lstStyle>
          <a:p>
            <a:pPr/>
            <a:r>
              <a:t>Docker</a:t>
            </a:r>
          </a:p>
        </p:txBody>
      </p:sp>
      <p:pic>
        <p:nvPicPr>
          <p:cNvPr id="228" name="vidéo-collée.png" descr="vidéo-collée.png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10000284" y="5488806"/>
            <a:ext cx="409804" cy="398145"/>
          </a:xfrm>
          <a:prstGeom prst="rect">
            <a:avLst/>
          </a:prstGeom>
          <a:ln w="12700">
            <a:miter lim="400000"/>
          </a:ln>
        </p:spPr>
      </p:pic>
      <p:sp>
        <p:nvSpPr>
          <p:cNvPr id="229" name="Kubernetes"/>
          <p:cNvSpPr txBox="1"/>
          <p:nvPr/>
        </p:nvSpPr>
        <p:spPr>
          <a:xfrm>
            <a:off x="9800207" y="5870347"/>
            <a:ext cx="809958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/>
            </a:lvl1pPr>
          </a:lstStyle>
          <a:p>
            <a:pPr/>
            <a:r>
              <a:t>Kubernetes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Espace réservé du pied de page 4"/>
          <p:cNvSpPr txBox="1"/>
          <p:nvPr/>
        </p:nvSpPr>
        <p:spPr>
          <a:xfrm>
            <a:off x="4211320" y="6502336"/>
            <a:ext cx="404452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Industrialisation IA</a:t>
            </a:r>
          </a:p>
        </p:txBody>
      </p:sp>
      <p:sp>
        <p:nvSpPr>
          <p:cNvPr id="234" name="Titr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 cycle de vie d’un projet IT en production</a:t>
            </a:r>
          </a:p>
        </p:txBody>
      </p:sp>
      <p:sp>
        <p:nvSpPr>
          <p:cNvPr id="235" name="Espace réservé de la date 3"/>
          <p:cNvSpPr txBox="1"/>
          <p:nvPr/>
        </p:nvSpPr>
        <p:spPr>
          <a:xfrm>
            <a:off x="352637" y="6502336"/>
            <a:ext cx="27533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27.04.25</a:t>
            </a:r>
          </a:p>
        </p:txBody>
      </p:sp>
      <p:sp>
        <p:nvSpPr>
          <p:cNvPr id="236" name="Espace réservé du numéro de diapositive 5"/>
          <p:cNvSpPr txBox="1"/>
          <p:nvPr>
            <p:ph type="sldNum" sz="quarter" idx="2"/>
          </p:nvPr>
        </p:nvSpPr>
        <p:spPr>
          <a:xfrm>
            <a:off x="11600713" y="6502336"/>
            <a:ext cx="284371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37" name="Image 6" descr="Imag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6279" y="1572763"/>
            <a:ext cx="10759441" cy="1327762"/>
          </a:xfrm>
          <a:prstGeom prst="rect">
            <a:avLst/>
          </a:prstGeom>
          <a:ln w="12700">
            <a:miter lim="400000"/>
          </a:ln>
        </p:spPr>
      </p:pic>
      <p:pic>
        <p:nvPicPr>
          <p:cNvPr id="238" name="vidéo-collée.png" descr="vidéo-collé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40612" y="3293428"/>
            <a:ext cx="398145" cy="398145"/>
          </a:xfrm>
          <a:prstGeom prst="rect">
            <a:avLst/>
          </a:prstGeom>
          <a:ln w="12700">
            <a:miter lim="400000"/>
          </a:ln>
        </p:spPr>
      </p:pic>
      <p:pic>
        <p:nvPicPr>
          <p:cNvPr id="239" name="vidéo-collée.png" descr="vidéo-collé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21689" y="3293428"/>
            <a:ext cx="398145" cy="398145"/>
          </a:xfrm>
          <a:prstGeom prst="rect">
            <a:avLst/>
          </a:prstGeom>
          <a:ln w="12700">
            <a:miter lim="400000"/>
          </a:ln>
        </p:spPr>
      </p:pic>
      <p:pic>
        <p:nvPicPr>
          <p:cNvPr id="240" name="vidéo-collée.png" descr="vidéo-collé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402767" y="3293428"/>
            <a:ext cx="398145" cy="398145"/>
          </a:xfrm>
          <a:prstGeom prst="rect">
            <a:avLst/>
          </a:prstGeom>
          <a:ln w="12700">
            <a:miter lim="400000"/>
          </a:ln>
        </p:spPr>
      </p:pic>
      <p:pic>
        <p:nvPicPr>
          <p:cNvPr id="241" name="vidéo-collée.png" descr="vidéo-collé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283844" y="3293428"/>
            <a:ext cx="398145" cy="398145"/>
          </a:xfrm>
          <a:prstGeom prst="rect">
            <a:avLst/>
          </a:prstGeom>
          <a:ln w="12700">
            <a:miter lim="400000"/>
          </a:ln>
        </p:spPr>
      </p:pic>
      <p:sp>
        <p:nvSpPr>
          <p:cNvPr id="242" name="Data Scientist"/>
          <p:cNvSpPr txBox="1"/>
          <p:nvPr/>
        </p:nvSpPr>
        <p:spPr>
          <a:xfrm>
            <a:off x="1078664" y="3387397"/>
            <a:ext cx="94963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1200"/>
            </a:lvl1pPr>
          </a:lstStyle>
          <a:p>
            <a:pPr/>
            <a:r>
              <a:t>Data Scientist</a:t>
            </a:r>
          </a:p>
        </p:txBody>
      </p:sp>
      <p:sp>
        <p:nvSpPr>
          <p:cNvPr id="243" name="Data Scientist, Dev Ops"/>
          <p:cNvSpPr txBox="1"/>
          <p:nvPr/>
        </p:nvSpPr>
        <p:spPr>
          <a:xfrm>
            <a:off x="3927340" y="3387397"/>
            <a:ext cx="1526715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1200"/>
            </a:lvl1pPr>
          </a:lstStyle>
          <a:p>
            <a:pPr/>
            <a:r>
              <a:t>Data Scientist, Dev Ops</a:t>
            </a:r>
          </a:p>
        </p:txBody>
      </p:sp>
      <p:sp>
        <p:nvSpPr>
          <p:cNvPr id="244" name="Equipe Infrastructure (App Ops, Dev Ops)"/>
          <p:cNvSpPr txBox="1"/>
          <p:nvPr/>
        </p:nvSpPr>
        <p:spPr>
          <a:xfrm>
            <a:off x="6776017" y="3273097"/>
            <a:ext cx="1763810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200"/>
            </a:lvl1pPr>
          </a:lstStyle>
          <a:p>
            <a:pPr/>
            <a:r>
              <a:t>Equipe Infrastructure (App Ops, Dev Ops)</a:t>
            </a:r>
          </a:p>
        </p:txBody>
      </p:sp>
      <p:sp>
        <p:nvSpPr>
          <p:cNvPr id="245" name="Equipe Infrastructure (App Ops, Dev Ops)"/>
          <p:cNvSpPr txBox="1"/>
          <p:nvPr/>
        </p:nvSpPr>
        <p:spPr>
          <a:xfrm>
            <a:off x="9624693" y="3273097"/>
            <a:ext cx="1763811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200"/>
            </a:lvl1pPr>
          </a:lstStyle>
          <a:p>
            <a:pPr/>
            <a:r>
              <a:t>Equipe Infrastructure (App Ops, Dev Ops)</a:t>
            </a:r>
          </a:p>
        </p:txBody>
      </p:sp>
      <p:pic>
        <p:nvPicPr>
          <p:cNvPr id="246" name="vidéo-collée.png" descr="vidéo-collé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40612" y="3973556"/>
            <a:ext cx="398145" cy="398145"/>
          </a:xfrm>
          <a:prstGeom prst="rect">
            <a:avLst/>
          </a:prstGeom>
          <a:ln w="12700">
            <a:miter lim="400000"/>
          </a:ln>
        </p:spPr>
      </p:pic>
      <p:pic>
        <p:nvPicPr>
          <p:cNvPr id="247" name="vidéo-collée.png" descr="vidéo-collé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521689" y="3973556"/>
            <a:ext cx="398145" cy="398145"/>
          </a:xfrm>
          <a:prstGeom prst="rect">
            <a:avLst/>
          </a:prstGeom>
          <a:ln w="12700">
            <a:miter lim="400000"/>
          </a:ln>
        </p:spPr>
      </p:pic>
      <p:pic>
        <p:nvPicPr>
          <p:cNvPr id="248" name="vidéo-collée.png" descr="vidéo-collé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402767" y="3935221"/>
            <a:ext cx="398145" cy="398145"/>
          </a:xfrm>
          <a:prstGeom prst="rect">
            <a:avLst/>
          </a:prstGeom>
          <a:ln w="12700">
            <a:miter lim="400000"/>
          </a:ln>
        </p:spPr>
      </p:pic>
      <p:pic>
        <p:nvPicPr>
          <p:cNvPr id="249" name="vidéo-collée.png" descr="vidéo-collé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283844" y="3913249"/>
            <a:ext cx="398145" cy="398145"/>
          </a:xfrm>
          <a:prstGeom prst="rect">
            <a:avLst/>
          </a:prstGeom>
          <a:ln w="12700">
            <a:miter lim="400000"/>
          </a:ln>
        </p:spPr>
      </p:pic>
      <p:sp>
        <p:nvSpPr>
          <p:cNvPr id="250" name="Livraison d’une première version dans un environnement industriel"/>
          <p:cNvSpPr txBox="1"/>
          <p:nvPr/>
        </p:nvSpPr>
        <p:spPr>
          <a:xfrm>
            <a:off x="1058293" y="3953225"/>
            <a:ext cx="2295741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sz="1200"/>
            </a:lvl1pPr>
          </a:lstStyle>
          <a:p>
            <a:pPr/>
            <a:r>
              <a:t>Livraison d’une première version dans un environnement industriel</a:t>
            </a:r>
          </a:p>
        </p:txBody>
      </p:sp>
      <p:sp>
        <p:nvSpPr>
          <p:cNvPr id="251" name="Livraison de l’ensemble des briques composants le système final"/>
          <p:cNvSpPr txBox="1"/>
          <p:nvPr/>
        </p:nvSpPr>
        <p:spPr>
          <a:xfrm>
            <a:off x="3943999" y="3953225"/>
            <a:ext cx="2295741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sz="1200"/>
            </a:lvl1pPr>
          </a:lstStyle>
          <a:p>
            <a:pPr/>
            <a:r>
              <a:t>Livraison de l’ensemble des briques composants le système final</a:t>
            </a:r>
          </a:p>
        </p:txBody>
      </p:sp>
      <p:sp>
        <p:nvSpPr>
          <p:cNvPr id="252" name="Verifier que l’infrastructure répond correctement"/>
          <p:cNvSpPr txBox="1"/>
          <p:nvPr/>
        </p:nvSpPr>
        <p:spPr>
          <a:xfrm>
            <a:off x="6829706" y="3953225"/>
            <a:ext cx="2295741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sz="1200"/>
            </a:lvl1pPr>
          </a:lstStyle>
          <a:p>
            <a:pPr/>
            <a:r>
              <a:t>Verifier que l’infrastructure répond correctement</a:t>
            </a:r>
          </a:p>
        </p:txBody>
      </p:sp>
      <p:sp>
        <p:nvSpPr>
          <p:cNvPr id="253" name="Mise à disposition des utilisateurs"/>
          <p:cNvSpPr txBox="1"/>
          <p:nvPr/>
        </p:nvSpPr>
        <p:spPr>
          <a:xfrm>
            <a:off x="9715412" y="3988168"/>
            <a:ext cx="22957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sz="1200"/>
            </a:lvl1pPr>
          </a:lstStyle>
          <a:p>
            <a:pPr/>
            <a:r>
              <a:t>Mise à disposition des utilisateurs</a:t>
            </a:r>
          </a:p>
        </p:txBody>
      </p:sp>
      <p:pic>
        <p:nvPicPr>
          <p:cNvPr id="254" name="vidéo-collée.png" descr="vidéo-collé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40612" y="4649707"/>
            <a:ext cx="398145" cy="398145"/>
          </a:xfrm>
          <a:prstGeom prst="rect">
            <a:avLst/>
          </a:prstGeom>
          <a:ln w="12700">
            <a:miter lim="400000"/>
          </a:ln>
        </p:spPr>
      </p:pic>
      <p:pic>
        <p:nvPicPr>
          <p:cNvPr id="255" name="vidéo-collée.png" descr="vidéo-collé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521689" y="4649707"/>
            <a:ext cx="398145" cy="398145"/>
          </a:xfrm>
          <a:prstGeom prst="rect">
            <a:avLst/>
          </a:prstGeom>
          <a:ln w="12700">
            <a:miter lim="400000"/>
          </a:ln>
        </p:spPr>
      </p:pic>
      <p:pic>
        <p:nvPicPr>
          <p:cNvPr id="256" name="vidéo-collée.png" descr="vidéo-collé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402767" y="4649707"/>
            <a:ext cx="398145" cy="398145"/>
          </a:xfrm>
          <a:prstGeom prst="rect">
            <a:avLst/>
          </a:prstGeom>
          <a:ln w="12700">
            <a:miter lim="400000"/>
          </a:ln>
        </p:spPr>
      </p:pic>
      <p:pic>
        <p:nvPicPr>
          <p:cNvPr id="257" name="vidéo-collée.png" descr="vidéo-collé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283844" y="4649707"/>
            <a:ext cx="398145" cy="398145"/>
          </a:xfrm>
          <a:prstGeom prst="rect">
            <a:avLst/>
          </a:prstGeom>
          <a:ln w="12700">
            <a:miter lim="400000"/>
          </a:ln>
        </p:spPr>
      </p:pic>
      <p:sp>
        <p:nvSpPr>
          <p:cNvPr id="258" name="Instable"/>
          <p:cNvSpPr txBox="1"/>
          <p:nvPr/>
        </p:nvSpPr>
        <p:spPr>
          <a:xfrm>
            <a:off x="1058293" y="4724627"/>
            <a:ext cx="229574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1200">
                <a:solidFill>
                  <a:schemeClr val="accent2"/>
                </a:solidFill>
              </a:defRPr>
            </a:lvl1pPr>
          </a:lstStyle>
          <a:p>
            <a:pPr/>
            <a:r>
              <a:t>Instable</a:t>
            </a:r>
          </a:p>
        </p:txBody>
      </p:sp>
      <p:sp>
        <p:nvSpPr>
          <p:cNvPr id="259" name="Moyennement stable"/>
          <p:cNvSpPr txBox="1"/>
          <p:nvPr/>
        </p:nvSpPr>
        <p:spPr>
          <a:xfrm>
            <a:off x="3943999" y="4724627"/>
            <a:ext cx="229574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1200">
                <a:solidFill>
                  <a:schemeClr val="accent6">
                    <a:satOff val="-35873"/>
                    <a:lumOff val="-12431"/>
                  </a:schemeClr>
                </a:solidFill>
              </a:defRPr>
            </a:lvl1pPr>
          </a:lstStyle>
          <a:p>
            <a:pPr/>
            <a:r>
              <a:t>Moyennement stable</a:t>
            </a:r>
          </a:p>
        </p:txBody>
      </p:sp>
      <p:sp>
        <p:nvSpPr>
          <p:cNvPr id="260" name="Stable"/>
          <p:cNvSpPr txBox="1"/>
          <p:nvPr/>
        </p:nvSpPr>
        <p:spPr>
          <a:xfrm>
            <a:off x="6829706" y="4724627"/>
            <a:ext cx="229574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1200">
                <a:solidFill>
                  <a:schemeClr val="accent3">
                    <a:satOff val="-6373"/>
                    <a:lumOff val="-10823"/>
                  </a:schemeClr>
                </a:solidFill>
              </a:defRPr>
            </a:lvl1pPr>
          </a:lstStyle>
          <a:p>
            <a:pPr/>
            <a:r>
              <a:t>Stable</a:t>
            </a:r>
          </a:p>
        </p:txBody>
      </p:sp>
      <p:sp>
        <p:nvSpPr>
          <p:cNvPr id="261" name="Stable"/>
          <p:cNvSpPr txBox="1"/>
          <p:nvPr/>
        </p:nvSpPr>
        <p:spPr>
          <a:xfrm>
            <a:off x="9710784" y="4724627"/>
            <a:ext cx="229574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1200">
                <a:solidFill>
                  <a:schemeClr val="accent3">
                    <a:satOff val="-6373"/>
                    <a:lumOff val="-10823"/>
                  </a:schemeClr>
                </a:solidFill>
              </a:defRPr>
            </a:lvl1pPr>
          </a:lstStyle>
          <a:p>
            <a:pPr/>
            <a:r>
              <a:t>Stable</a:t>
            </a:r>
          </a:p>
        </p:txBody>
      </p:sp>
      <p:pic>
        <p:nvPicPr>
          <p:cNvPr id="262" name="vidéo-collée.png" descr="vidéo-collée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40612" y="5329835"/>
            <a:ext cx="398145" cy="398145"/>
          </a:xfrm>
          <a:prstGeom prst="rect">
            <a:avLst/>
          </a:prstGeom>
          <a:ln w="12700">
            <a:miter lim="400000"/>
          </a:ln>
        </p:spPr>
      </p:pic>
      <p:sp>
        <p:nvSpPr>
          <p:cNvPr id="263" name="Tests d’intégration…"/>
          <p:cNvSpPr txBox="1"/>
          <p:nvPr/>
        </p:nvSpPr>
        <p:spPr>
          <a:xfrm>
            <a:off x="1058293" y="5309505"/>
            <a:ext cx="2295741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1200"/>
            </a:pPr>
            <a:r>
              <a:t>Tests d’intégration</a:t>
            </a:r>
          </a:p>
          <a:p>
            <a:pPr algn="just">
              <a:defRPr sz="1200"/>
            </a:pPr>
            <a:r>
              <a:t>Tests de masse</a:t>
            </a:r>
          </a:p>
        </p:txBody>
      </p:sp>
      <p:pic>
        <p:nvPicPr>
          <p:cNvPr id="264" name="vidéo-collée.png" descr="vidéo-collée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3521689" y="5329835"/>
            <a:ext cx="398145" cy="398145"/>
          </a:xfrm>
          <a:prstGeom prst="rect">
            <a:avLst/>
          </a:prstGeom>
          <a:ln w="12700">
            <a:miter lim="400000"/>
          </a:ln>
        </p:spPr>
      </p:pic>
      <p:pic>
        <p:nvPicPr>
          <p:cNvPr id="265" name="vidéo-collée.png" descr="vidéo-collée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402767" y="5329835"/>
            <a:ext cx="398145" cy="398145"/>
          </a:xfrm>
          <a:prstGeom prst="rect">
            <a:avLst/>
          </a:prstGeom>
          <a:ln w="12700">
            <a:miter lim="400000"/>
          </a:ln>
        </p:spPr>
      </p:pic>
      <p:pic>
        <p:nvPicPr>
          <p:cNvPr id="266" name="vidéo-collée.png" descr="vidéo-collée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9283844" y="5329835"/>
            <a:ext cx="398145" cy="398145"/>
          </a:xfrm>
          <a:prstGeom prst="rect">
            <a:avLst/>
          </a:prstGeom>
          <a:ln w="12700">
            <a:miter lim="400000"/>
          </a:ln>
        </p:spPr>
      </p:pic>
      <p:sp>
        <p:nvSpPr>
          <p:cNvPr id="267" name="Tests de masse…"/>
          <p:cNvSpPr txBox="1"/>
          <p:nvPr/>
        </p:nvSpPr>
        <p:spPr>
          <a:xfrm>
            <a:off x="3943999" y="5309505"/>
            <a:ext cx="2295741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1200"/>
            </a:pPr>
            <a:r>
              <a:t>Tests de masse</a:t>
            </a:r>
          </a:p>
          <a:p>
            <a:pPr algn="just">
              <a:defRPr sz="1200"/>
            </a:pPr>
            <a:r>
              <a:t>Tests fonctionnel</a:t>
            </a:r>
          </a:p>
        </p:txBody>
      </p:sp>
      <p:sp>
        <p:nvSpPr>
          <p:cNvPr id="268" name="Tests de charge…"/>
          <p:cNvSpPr txBox="1"/>
          <p:nvPr/>
        </p:nvSpPr>
        <p:spPr>
          <a:xfrm>
            <a:off x="6829706" y="5305528"/>
            <a:ext cx="2295741" cy="629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1200"/>
            </a:pPr>
            <a:r>
              <a:t>Tests de charge</a:t>
            </a:r>
          </a:p>
          <a:p>
            <a:pPr algn="just">
              <a:defRPr sz="1200"/>
            </a:pPr>
            <a:r>
              <a:t>Tests d’intrusion</a:t>
            </a:r>
          </a:p>
          <a:p>
            <a:pPr algn="just">
              <a:defRPr sz="1200"/>
            </a:pPr>
            <a:r>
              <a:t>Tests fonctionnels</a:t>
            </a:r>
          </a:p>
        </p:txBody>
      </p:sp>
      <p:sp>
        <p:nvSpPr>
          <p:cNvPr id="269" name="Tests d’intrusion…"/>
          <p:cNvSpPr txBox="1"/>
          <p:nvPr/>
        </p:nvSpPr>
        <p:spPr>
          <a:xfrm>
            <a:off x="9710784" y="5305528"/>
            <a:ext cx="2295740" cy="43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1200"/>
            </a:pPr>
            <a:r>
              <a:t>Tests d’intrusion</a:t>
            </a:r>
          </a:p>
          <a:p>
            <a:pPr algn="just">
              <a:defRPr sz="1200"/>
            </a:pPr>
            <a:r>
              <a:t>Smoke tests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Espace réservé du pied de page 4"/>
          <p:cNvSpPr txBox="1"/>
          <p:nvPr/>
        </p:nvSpPr>
        <p:spPr>
          <a:xfrm>
            <a:off x="4211320" y="6502336"/>
            <a:ext cx="404452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Industrialisation IA</a:t>
            </a:r>
          </a:p>
        </p:txBody>
      </p:sp>
      <p:sp>
        <p:nvSpPr>
          <p:cNvPr id="272" name="Titr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 propos des données - stockage, utilisation…</a:t>
            </a:r>
          </a:p>
        </p:txBody>
      </p:sp>
      <p:sp>
        <p:nvSpPr>
          <p:cNvPr id="273" name="Espace réservé de la date 3"/>
          <p:cNvSpPr txBox="1"/>
          <p:nvPr/>
        </p:nvSpPr>
        <p:spPr>
          <a:xfrm>
            <a:off x="352637" y="6502336"/>
            <a:ext cx="27533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27.04.25</a:t>
            </a:r>
          </a:p>
        </p:txBody>
      </p:sp>
      <p:sp>
        <p:nvSpPr>
          <p:cNvPr id="274" name="Espace réservé du numéro de diapositive 5"/>
          <p:cNvSpPr txBox="1"/>
          <p:nvPr>
            <p:ph type="sldNum" sz="quarter" idx="2"/>
          </p:nvPr>
        </p:nvSpPr>
        <p:spPr>
          <a:xfrm>
            <a:off x="11600713" y="6502336"/>
            <a:ext cx="284371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75" name="Connecteur droit 4"/>
          <p:cNvSpPr/>
          <p:nvPr/>
        </p:nvSpPr>
        <p:spPr>
          <a:xfrm flipH="1">
            <a:off x="7548880" y="1741613"/>
            <a:ext cx="1" cy="432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276" name="vidéo-collée.png" descr="vidéo-collé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77138" y="1584667"/>
            <a:ext cx="541701" cy="541701"/>
          </a:xfrm>
          <a:prstGeom prst="rect">
            <a:avLst/>
          </a:prstGeom>
          <a:ln w="12700">
            <a:miter lim="400000"/>
          </a:ln>
        </p:spPr>
      </p:pic>
      <p:sp>
        <p:nvSpPr>
          <p:cNvPr id="277" name="Bases de données relationnelles…"/>
          <p:cNvSpPr txBox="1"/>
          <p:nvPr/>
        </p:nvSpPr>
        <p:spPr>
          <a:xfrm>
            <a:off x="2866536" y="1604365"/>
            <a:ext cx="3180418" cy="502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600"/>
            </a:pPr>
            <a:r>
              <a:t>Bases de données relationnelles</a:t>
            </a:r>
          </a:p>
          <a:p>
            <a:pPr>
              <a:defRPr i="1" sz="1200"/>
            </a:pPr>
            <a:r>
              <a:t>Modèle historique dans les banques et assurances</a:t>
            </a:r>
          </a:p>
        </p:txBody>
      </p:sp>
      <p:pic>
        <p:nvPicPr>
          <p:cNvPr id="278" name="vidéo-collée.png" descr="vidéo-collé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87415" y="2417128"/>
            <a:ext cx="398145" cy="398145"/>
          </a:xfrm>
          <a:prstGeom prst="rect">
            <a:avLst/>
          </a:prstGeom>
          <a:ln w="12700">
            <a:miter lim="400000"/>
          </a:ln>
        </p:spPr>
      </p:pic>
      <p:sp>
        <p:nvSpPr>
          <p:cNvPr id="279" name="SQL : Structured Query Language…"/>
          <p:cNvSpPr txBox="1"/>
          <p:nvPr/>
        </p:nvSpPr>
        <p:spPr>
          <a:xfrm>
            <a:off x="1027255" y="2359592"/>
            <a:ext cx="2486036" cy="476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/>
            </a:pPr>
            <a:r>
              <a:t>SQL : Structured Query Language</a:t>
            </a:r>
          </a:p>
          <a:p>
            <a:pPr>
              <a:defRPr i="1" sz="1200"/>
            </a:pPr>
            <a:r>
              <a:t>Approche structurée</a:t>
            </a:r>
          </a:p>
        </p:txBody>
      </p:sp>
      <p:sp>
        <p:nvSpPr>
          <p:cNvPr id="280" name="Système polyvalent - rapide en lecture et écriture ;…"/>
          <p:cNvSpPr txBox="1"/>
          <p:nvPr/>
        </p:nvSpPr>
        <p:spPr>
          <a:xfrm>
            <a:off x="492384" y="2939036"/>
            <a:ext cx="4289621" cy="96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140368" indent="-140368" algn="just">
              <a:buSzPct val="100000"/>
              <a:buChar char="-"/>
              <a:defRPr sz="1400"/>
            </a:pPr>
            <a:r>
              <a:t>Système polyvalent - rapide en lecture et écriture ;</a:t>
            </a:r>
          </a:p>
          <a:p>
            <a:pPr marL="140368" indent="-140368" algn="just">
              <a:buSzPct val="100000"/>
              <a:buChar char="-"/>
              <a:defRPr sz="1400"/>
            </a:pPr>
            <a:r>
              <a:t>Pas d’unicité dans les observations ;</a:t>
            </a:r>
          </a:p>
          <a:p>
            <a:pPr marL="140368" indent="-140368" algn="just">
              <a:buSzPct val="100000"/>
              <a:buChar char="-"/>
              <a:defRPr sz="1400"/>
            </a:pPr>
            <a:r>
              <a:t>Optimisé pour le brassage de données : jointure, calculs de variables en fonction de caractéristiques d’intérêt.</a:t>
            </a:r>
          </a:p>
        </p:txBody>
      </p:sp>
      <p:sp>
        <p:nvSpPr>
          <p:cNvPr id="281" name="NoSQL : Not only Structured Query Language…"/>
          <p:cNvSpPr txBox="1"/>
          <p:nvPr/>
        </p:nvSpPr>
        <p:spPr>
          <a:xfrm>
            <a:off x="1083703" y="4449911"/>
            <a:ext cx="3351509" cy="476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/>
            </a:pPr>
            <a:r>
              <a:t>NoSQL : Not only Structured Query Language</a:t>
            </a:r>
          </a:p>
          <a:p>
            <a:pPr>
              <a:defRPr i="1" sz="1200"/>
            </a:pPr>
            <a:r>
              <a:t>Approche non structurée</a:t>
            </a:r>
          </a:p>
        </p:txBody>
      </p:sp>
      <p:pic>
        <p:nvPicPr>
          <p:cNvPr id="282" name="vidéo-collée.png" descr="vidéo-collé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75243" y="4383399"/>
            <a:ext cx="995803" cy="609930"/>
          </a:xfrm>
          <a:prstGeom prst="rect">
            <a:avLst/>
          </a:prstGeom>
          <a:ln w="12700">
            <a:miter lim="400000"/>
          </a:ln>
        </p:spPr>
      </p:pic>
      <p:sp>
        <p:nvSpPr>
          <p:cNvPr id="283" name="Optimiser en lecture - pas écriture ;…"/>
          <p:cNvSpPr txBox="1"/>
          <p:nvPr/>
        </p:nvSpPr>
        <p:spPr>
          <a:xfrm>
            <a:off x="492384" y="5036243"/>
            <a:ext cx="4289621" cy="73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140368" indent="-140368" algn="just">
              <a:buSzPct val="100000"/>
              <a:buChar char="-"/>
              <a:defRPr sz="1400"/>
            </a:pPr>
            <a:r>
              <a:t>Optimiser en lecture - pas écriture ;</a:t>
            </a:r>
          </a:p>
          <a:p>
            <a:pPr marL="140368" indent="-140368" algn="just">
              <a:buSzPct val="100000"/>
              <a:buChar char="-"/>
              <a:defRPr sz="1400"/>
            </a:pPr>
            <a:r>
              <a:t>Accès aux données par clé (rapide), unicité des clés ;</a:t>
            </a:r>
          </a:p>
          <a:p>
            <a:pPr marL="140368" indent="-140368" algn="just">
              <a:buSzPct val="100000"/>
              <a:buChar char="-"/>
              <a:defRPr sz="1400"/>
            </a:pPr>
            <a:r>
              <a:t>Utilisation sur de la donnée brute, en production.</a:t>
            </a:r>
          </a:p>
        </p:txBody>
      </p:sp>
      <p:pic>
        <p:nvPicPr>
          <p:cNvPr id="284" name="vidéo-collée.png" descr="vidéo-collée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414009" y="3047869"/>
            <a:ext cx="398145" cy="398145"/>
          </a:xfrm>
          <a:prstGeom prst="rect">
            <a:avLst/>
          </a:prstGeom>
          <a:ln w="12700">
            <a:miter lim="400000"/>
          </a:ln>
        </p:spPr>
      </p:pic>
      <p:sp>
        <p:nvSpPr>
          <p:cNvPr id="285" name="Oracle DataBase"/>
          <p:cNvSpPr txBox="1"/>
          <p:nvPr/>
        </p:nvSpPr>
        <p:spPr>
          <a:xfrm>
            <a:off x="5054772" y="3470322"/>
            <a:ext cx="1116619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/>
            </a:lvl1pPr>
          </a:lstStyle>
          <a:p>
            <a:pPr/>
            <a:r>
              <a:t>Oracle DataBase</a:t>
            </a:r>
          </a:p>
        </p:txBody>
      </p:sp>
      <p:pic>
        <p:nvPicPr>
          <p:cNvPr id="286" name="vidéo-collée.png" descr="vidéo-collée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456908" y="3070301"/>
            <a:ext cx="680320" cy="625895"/>
          </a:xfrm>
          <a:prstGeom prst="rect">
            <a:avLst/>
          </a:prstGeom>
          <a:ln w="12700">
            <a:miter lim="400000"/>
          </a:ln>
        </p:spPr>
      </p:pic>
      <p:pic>
        <p:nvPicPr>
          <p:cNvPr id="287" name="vidéo-collée.png" descr="vidéo-collée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5046434" y="5021417"/>
            <a:ext cx="956602" cy="609930"/>
          </a:xfrm>
          <a:prstGeom prst="rect">
            <a:avLst/>
          </a:prstGeom>
          <a:ln w="12700">
            <a:miter lim="400000"/>
          </a:ln>
        </p:spPr>
      </p:pic>
      <p:pic>
        <p:nvPicPr>
          <p:cNvPr id="288" name="vidéo-collée.png" descr="vidéo-collée.png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6479885" y="5009199"/>
            <a:ext cx="634365" cy="634365"/>
          </a:xfrm>
          <a:prstGeom prst="rect">
            <a:avLst/>
          </a:prstGeom>
          <a:ln w="12700">
            <a:miter lim="400000"/>
          </a:ln>
        </p:spPr>
      </p:pic>
      <p:sp>
        <p:nvSpPr>
          <p:cNvPr id="289" name="Bases de données non relationnelles…"/>
          <p:cNvSpPr txBox="1"/>
          <p:nvPr/>
        </p:nvSpPr>
        <p:spPr>
          <a:xfrm>
            <a:off x="8643325" y="1604365"/>
            <a:ext cx="3180914" cy="502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600"/>
            </a:pPr>
            <a:r>
              <a:t>Bases de données non relationnelles</a:t>
            </a:r>
          </a:p>
          <a:p>
            <a:pPr>
              <a:defRPr i="1" sz="1200"/>
            </a:pPr>
            <a:r>
              <a:t>Modèle novateur dans les banques et assurances</a:t>
            </a:r>
          </a:p>
        </p:txBody>
      </p:sp>
      <p:sp>
        <p:nvSpPr>
          <p:cNvPr id="290" name="Stockage documentaire : note de procédure interne, contrats client……"/>
          <p:cNvSpPr txBox="1"/>
          <p:nvPr/>
        </p:nvSpPr>
        <p:spPr>
          <a:xfrm>
            <a:off x="7678190" y="2674560"/>
            <a:ext cx="4173868" cy="96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140368" indent="-140368" algn="just">
              <a:buSzPct val="100000"/>
              <a:buChar char="-"/>
              <a:defRPr sz="1400"/>
            </a:pPr>
            <a:r>
              <a:t>Stockage documentaire : note de procédure interne, contrats client… </a:t>
            </a:r>
          </a:p>
          <a:p>
            <a:pPr marL="140368" indent="-140368" algn="just">
              <a:buSzPct val="100000"/>
              <a:buChar char="-"/>
              <a:defRPr sz="1400"/>
            </a:pPr>
            <a:r>
              <a:t>Vidéo : caméra de surveillance, pièces de sinistres ;</a:t>
            </a:r>
          </a:p>
          <a:p>
            <a:pPr marL="140368" indent="-140368" algn="just">
              <a:buSzPct val="100000"/>
              <a:buChar char="-"/>
              <a:defRPr sz="1400"/>
            </a:pPr>
            <a:r>
              <a:t>Voix : call center.</a:t>
            </a:r>
          </a:p>
        </p:txBody>
      </p:sp>
      <p:pic>
        <p:nvPicPr>
          <p:cNvPr id="291" name="vidéo-collée.png" descr="vidéo-collée.png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8553347" y="4136265"/>
            <a:ext cx="541701" cy="541701"/>
          </a:xfrm>
          <a:prstGeom prst="rect">
            <a:avLst/>
          </a:prstGeom>
          <a:ln w="12700">
            <a:miter lim="400000"/>
          </a:ln>
        </p:spPr>
      </p:pic>
      <p:sp>
        <p:nvSpPr>
          <p:cNvPr id="292" name="GED : Gestion Electronique de Documents"/>
          <p:cNvSpPr txBox="1"/>
          <p:nvPr/>
        </p:nvSpPr>
        <p:spPr>
          <a:xfrm>
            <a:off x="7922339" y="4767874"/>
            <a:ext cx="1803717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200"/>
            </a:lvl1pPr>
          </a:lstStyle>
          <a:p>
            <a:pPr/>
            <a:r>
              <a:t>GED : Gestion Electronique de Documents</a:t>
            </a:r>
          </a:p>
        </p:txBody>
      </p:sp>
      <p:pic>
        <p:nvPicPr>
          <p:cNvPr id="293" name="vidéo-collée.png" descr="vidéo-collée.png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10651306" y="4259849"/>
            <a:ext cx="956602" cy="717452"/>
          </a:xfrm>
          <a:prstGeom prst="rect">
            <a:avLst/>
          </a:prstGeom>
          <a:ln w="12700">
            <a:miter lim="400000"/>
          </a:ln>
        </p:spPr>
      </p:pic>
      <p:pic>
        <p:nvPicPr>
          <p:cNvPr id="294" name="vidéo-collée.png" descr="vidéo-collée.png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9050807" y="5296588"/>
            <a:ext cx="1983982" cy="991992"/>
          </a:xfrm>
          <a:prstGeom prst="rect">
            <a:avLst/>
          </a:prstGeom>
          <a:ln w="12700">
            <a:miter lim="400000"/>
          </a:ln>
        </p:spPr>
      </p:pic>
      <p:pic>
        <p:nvPicPr>
          <p:cNvPr id="295" name="vidéo-collée.png" descr="vidéo-collée.png"/>
          <p:cNvPicPr>
            <a:picLocks noChangeAspect="1"/>
          </p:cNvPicPr>
          <p:nvPr/>
        </p:nvPicPr>
        <p:blipFill>
          <a:blip r:embed="rId13">
            <a:extLst/>
          </a:blip>
          <a:srcRect l="22972" t="27716" r="22976" b="27033"/>
          <a:stretch>
            <a:fillRect/>
          </a:stretch>
        </p:blipFill>
        <p:spPr>
          <a:xfrm>
            <a:off x="7826008" y="1568577"/>
            <a:ext cx="685495" cy="5738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6" h="21600" fill="norm" stroke="1" extrusionOk="0">
                <a:moveTo>
                  <a:pt x="11216" y="0"/>
                </a:moveTo>
                <a:cubicBezTo>
                  <a:pt x="11173" y="0"/>
                  <a:pt x="11121" y="4"/>
                  <a:pt x="11066" y="15"/>
                </a:cubicBezTo>
                <a:cubicBezTo>
                  <a:pt x="11056" y="17"/>
                  <a:pt x="11048" y="28"/>
                  <a:pt x="11041" y="30"/>
                </a:cubicBezTo>
                <a:cubicBezTo>
                  <a:pt x="10954" y="49"/>
                  <a:pt x="10830" y="92"/>
                  <a:pt x="10715" y="135"/>
                </a:cubicBezTo>
                <a:cubicBezTo>
                  <a:pt x="10642" y="162"/>
                  <a:pt x="10574" y="187"/>
                  <a:pt x="10490" y="224"/>
                </a:cubicBezTo>
                <a:cubicBezTo>
                  <a:pt x="10396" y="266"/>
                  <a:pt x="10285" y="321"/>
                  <a:pt x="10178" y="374"/>
                </a:cubicBezTo>
                <a:cubicBezTo>
                  <a:pt x="10078" y="423"/>
                  <a:pt x="9988" y="464"/>
                  <a:pt x="9878" y="523"/>
                </a:cubicBezTo>
                <a:cubicBezTo>
                  <a:pt x="9753" y="589"/>
                  <a:pt x="9614" y="669"/>
                  <a:pt x="9478" y="747"/>
                </a:cubicBezTo>
                <a:cubicBezTo>
                  <a:pt x="9373" y="807"/>
                  <a:pt x="9277" y="860"/>
                  <a:pt x="9165" y="926"/>
                </a:cubicBezTo>
                <a:cubicBezTo>
                  <a:pt x="9003" y="1022"/>
                  <a:pt x="8816" y="1131"/>
                  <a:pt x="8640" y="1240"/>
                </a:cubicBezTo>
                <a:cubicBezTo>
                  <a:pt x="8523" y="1313"/>
                  <a:pt x="8412" y="1386"/>
                  <a:pt x="8290" y="1464"/>
                </a:cubicBezTo>
                <a:cubicBezTo>
                  <a:pt x="8097" y="1587"/>
                  <a:pt x="7894" y="1716"/>
                  <a:pt x="7690" y="1852"/>
                </a:cubicBezTo>
                <a:cubicBezTo>
                  <a:pt x="7580" y="1926"/>
                  <a:pt x="7478" y="2000"/>
                  <a:pt x="7365" y="2076"/>
                </a:cubicBezTo>
                <a:cubicBezTo>
                  <a:pt x="7164" y="2213"/>
                  <a:pt x="6949" y="2363"/>
                  <a:pt x="6739" y="2510"/>
                </a:cubicBezTo>
                <a:cubicBezTo>
                  <a:pt x="6598" y="2609"/>
                  <a:pt x="6459" y="2690"/>
                  <a:pt x="6314" y="2793"/>
                </a:cubicBezTo>
                <a:cubicBezTo>
                  <a:pt x="5968" y="3041"/>
                  <a:pt x="5613" y="3300"/>
                  <a:pt x="5251" y="3570"/>
                </a:cubicBezTo>
                <a:lnTo>
                  <a:pt x="0" y="7499"/>
                </a:lnTo>
                <a:lnTo>
                  <a:pt x="0" y="14549"/>
                </a:lnTo>
                <a:cubicBezTo>
                  <a:pt x="0" y="15083"/>
                  <a:pt x="6" y="15603"/>
                  <a:pt x="13" y="16088"/>
                </a:cubicBezTo>
                <a:cubicBezTo>
                  <a:pt x="19" y="16573"/>
                  <a:pt x="25" y="17032"/>
                  <a:pt x="38" y="17462"/>
                </a:cubicBezTo>
                <a:cubicBezTo>
                  <a:pt x="63" y="18324"/>
                  <a:pt x="103" y="19059"/>
                  <a:pt x="150" y="19673"/>
                </a:cubicBezTo>
                <a:cubicBezTo>
                  <a:pt x="174" y="19980"/>
                  <a:pt x="197" y="20257"/>
                  <a:pt x="225" y="20495"/>
                </a:cubicBezTo>
                <a:cubicBezTo>
                  <a:pt x="282" y="20970"/>
                  <a:pt x="351" y="21312"/>
                  <a:pt x="425" y="21480"/>
                </a:cubicBezTo>
                <a:cubicBezTo>
                  <a:pt x="462" y="21565"/>
                  <a:pt x="497" y="21600"/>
                  <a:pt x="538" y="21600"/>
                </a:cubicBezTo>
                <a:cubicBezTo>
                  <a:pt x="619" y="21600"/>
                  <a:pt x="697" y="21436"/>
                  <a:pt x="763" y="21122"/>
                </a:cubicBezTo>
                <a:cubicBezTo>
                  <a:pt x="829" y="20805"/>
                  <a:pt x="891" y="20338"/>
                  <a:pt x="938" y="19748"/>
                </a:cubicBezTo>
                <a:cubicBezTo>
                  <a:pt x="985" y="19156"/>
                  <a:pt x="1013" y="18437"/>
                  <a:pt x="1038" y="17612"/>
                </a:cubicBezTo>
                <a:cubicBezTo>
                  <a:pt x="1063" y="16784"/>
                  <a:pt x="1075" y="15854"/>
                  <a:pt x="1075" y="14833"/>
                </a:cubicBezTo>
                <a:lnTo>
                  <a:pt x="1075" y="8066"/>
                </a:lnTo>
                <a:lnTo>
                  <a:pt x="5689" y="4511"/>
                </a:lnTo>
                <a:cubicBezTo>
                  <a:pt x="8224" y="2558"/>
                  <a:pt x="10539" y="956"/>
                  <a:pt x="10828" y="956"/>
                </a:cubicBezTo>
                <a:cubicBezTo>
                  <a:pt x="10900" y="956"/>
                  <a:pt x="11095" y="1060"/>
                  <a:pt x="11391" y="1240"/>
                </a:cubicBezTo>
                <a:cubicBezTo>
                  <a:pt x="11686" y="1419"/>
                  <a:pt x="12078" y="1682"/>
                  <a:pt x="12541" y="2002"/>
                </a:cubicBezTo>
                <a:cubicBezTo>
                  <a:pt x="12716" y="2122"/>
                  <a:pt x="12937" y="2284"/>
                  <a:pt x="13129" y="2420"/>
                </a:cubicBezTo>
                <a:cubicBezTo>
                  <a:pt x="13960" y="3010"/>
                  <a:pt x="14905" y="3707"/>
                  <a:pt x="15929" y="4496"/>
                </a:cubicBezTo>
                <a:lnTo>
                  <a:pt x="20518" y="8022"/>
                </a:lnTo>
                <a:lnTo>
                  <a:pt x="20518" y="14818"/>
                </a:lnTo>
                <a:cubicBezTo>
                  <a:pt x="20518" y="15756"/>
                  <a:pt x="20535" y="16612"/>
                  <a:pt x="20556" y="17388"/>
                </a:cubicBezTo>
                <a:cubicBezTo>
                  <a:pt x="20557" y="17417"/>
                  <a:pt x="20555" y="17448"/>
                  <a:pt x="20556" y="17477"/>
                </a:cubicBezTo>
                <a:cubicBezTo>
                  <a:pt x="20562" y="17692"/>
                  <a:pt x="20573" y="17889"/>
                  <a:pt x="20581" y="18090"/>
                </a:cubicBezTo>
                <a:cubicBezTo>
                  <a:pt x="20588" y="18285"/>
                  <a:pt x="20584" y="18476"/>
                  <a:pt x="20593" y="18657"/>
                </a:cubicBezTo>
                <a:cubicBezTo>
                  <a:pt x="20601" y="18814"/>
                  <a:pt x="20622" y="18960"/>
                  <a:pt x="20631" y="19105"/>
                </a:cubicBezTo>
                <a:cubicBezTo>
                  <a:pt x="20641" y="19276"/>
                  <a:pt x="20644" y="19443"/>
                  <a:pt x="20656" y="19598"/>
                </a:cubicBezTo>
                <a:cubicBezTo>
                  <a:pt x="20667" y="19750"/>
                  <a:pt x="20681" y="19881"/>
                  <a:pt x="20693" y="20017"/>
                </a:cubicBezTo>
                <a:cubicBezTo>
                  <a:pt x="20706" y="20149"/>
                  <a:pt x="20717" y="20288"/>
                  <a:pt x="20731" y="20405"/>
                </a:cubicBezTo>
                <a:cubicBezTo>
                  <a:pt x="20743" y="20512"/>
                  <a:pt x="20755" y="20611"/>
                  <a:pt x="20768" y="20704"/>
                </a:cubicBezTo>
                <a:cubicBezTo>
                  <a:pt x="20785" y="20821"/>
                  <a:pt x="20800" y="20923"/>
                  <a:pt x="20818" y="21017"/>
                </a:cubicBezTo>
                <a:cubicBezTo>
                  <a:pt x="20831" y="21087"/>
                  <a:pt x="20842" y="21155"/>
                  <a:pt x="20856" y="21212"/>
                </a:cubicBezTo>
                <a:cubicBezTo>
                  <a:pt x="20880" y="21313"/>
                  <a:pt x="20904" y="21405"/>
                  <a:pt x="20931" y="21466"/>
                </a:cubicBezTo>
                <a:cubicBezTo>
                  <a:pt x="20933" y="21470"/>
                  <a:pt x="20941" y="21476"/>
                  <a:pt x="20943" y="21480"/>
                </a:cubicBezTo>
                <a:cubicBezTo>
                  <a:pt x="20961" y="21519"/>
                  <a:pt x="20975" y="21550"/>
                  <a:pt x="20993" y="21570"/>
                </a:cubicBezTo>
                <a:cubicBezTo>
                  <a:pt x="21013" y="21591"/>
                  <a:pt x="21036" y="21600"/>
                  <a:pt x="21056" y="21600"/>
                </a:cubicBezTo>
                <a:cubicBezTo>
                  <a:pt x="21137" y="21600"/>
                  <a:pt x="21215" y="21432"/>
                  <a:pt x="21281" y="21107"/>
                </a:cubicBezTo>
                <a:cubicBezTo>
                  <a:pt x="21314" y="20944"/>
                  <a:pt x="21340" y="20732"/>
                  <a:pt x="21368" y="20495"/>
                </a:cubicBezTo>
                <a:cubicBezTo>
                  <a:pt x="21397" y="20257"/>
                  <a:pt x="21432" y="19995"/>
                  <a:pt x="21456" y="19688"/>
                </a:cubicBezTo>
                <a:cubicBezTo>
                  <a:pt x="21503" y="19075"/>
                  <a:pt x="21531" y="18321"/>
                  <a:pt x="21556" y="17462"/>
                </a:cubicBezTo>
                <a:cubicBezTo>
                  <a:pt x="21569" y="17031"/>
                  <a:pt x="21587" y="16571"/>
                  <a:pt x="21594" y="16088"/>
                </a:cubicBezTo>
                <a:cubicBezTo>
                  <a:pt x="21600" y="15603"/>
                  <a:pt x="21594" y="15097"/>
                  <a:pt x="21594" y="14564"/>
                </a:cubicBezTo>
                <a:lnTo>
                  <a:pt x="21594" y="7529"/>
                </a:lnTo>
                <a:lnTo>
                  <a:pt x="16867" y="3959"/>
                </a:lnTo>
                <a:cubicBezTo>
                  <a:pt x="14264" y="1996"/>
                  <a:pt x="11774" y="219"/>
                  <a:pt x="11328" y="15"/>
                </a:cubicBezTo>
                <a:cubicBezTo>
                  <a:pt x="11299" y="2"/>
                  <a:pt x="11261" y="0"/>
                  <a:pt x="11216" y="0"/>
                </a:cubicBezTo>
                <a:close/>
                <a:moveTo>
                  <a:pt x="11641" y="6767"/>
                </a:moveTo>
                <a:cubicBezTo>
                  <a:pt x="8318" y="6767"/>
                  <a:pt x="7709" y="7385"/>
                  <a:pt x="7465" y="10964"/>
                </a:cubicBezTo>
                <a:cubicBezTo>
                  <a:pt x="7330" y="12931"/>
                  <a:pt x="7042" y="13577"/>
                  <a:pt x="6214" y="13758"/>
                </a:cubicBezTo>
                <a:cubicBezTo>
                  <a:pt x="5270" y="13964"/>
                  <a:pt x="4660" y="14340"/>
                  <a:pt x="4289" y="15057"/>
                </a:cubicBezTo>
                <a:cubicBezTo>
                  <a:pt x="4150" y="15328"/>
                  <a:pt x="4042" y="15636"/>
                  <a:pt x="3964" y="16013"/>
                </a:cubicBezTo>
                <a:cubicBezTo>
                  <a:pt x="3915" y="16250"/>
                  <a:pt x="3880" y="16519"/>
                  <a:pt x="3851" y="16805"/>
                </a:cubicBezTo>
                <a:cubicBezTo>
                  <a:pt x="3849" y="16823"/>
                  <a:pt x="3840" y="16846"/>
                  <a:pt x="3839" y="16865"/>
                </a:cubicBezTo>
                <a:cubicBezTo>
                  <a:pt x="3795" y="17329"/>
                  <a:pt x="3776" y="17858"/>
                  <a:pt x="3776" y="18463"/>
                </a:cubicBezTo>
                <a:lnTo>
                  <a:pt x="3776" y="21600"/>
                </a:lnTo>
                <a:lnTo>
                  <a:pt x="9878" y="21600"/>
                </a:lnTo>
                <a:cubicBezTo>
                  <a:pt x="10381" y="21600"/>
                  <a:pt x="10867" y="21593"/>
                  <a:pt x="11316" y="21585"/>
                </a:cubicBezTo>
                <a:cubicBezTo>
                  <a:pt x="12048" y="21572"/>
                  <a:pt x="12680" y="21545"/>
                  <a:pt x="13266" y="21510"/>
                </a:cubicBezTo>
                <a:cubicBezTo>
                  <a:pt x="13348" y="21505"/>
                  <a:pt x="13450" y="21501"/>
                  <a:pt x="13529" y="21495"/>
                </a:cubicBezTo>
                <a:cubicBezTo>
                  <a:pt x="13668" y="21486"/>
                  <a:pt x="13786" y="21476"/>
                  <a:pt x="13916" y="21466"/>
                </a:cubicBezTo>
                <a:cubicBezTo>
                  <a:pt x="14105" y="21450"/>
                  <a:pt x="14285" y="21439"/>
                  <a:pt x="14454" y="21421"/>
                </a:cubicBezTo>
                <a:cubicBezTo>
                  <a:pt x="14559" y="21410"/>
                  <a:pt x="14657" y="21403"/>
                  <a:pt x="14754" y="21391"/>
                </a:cubicBezTo>
                <a:cubicBezTo>
                  <a:pt x="14915" y="21371"/>
                  <a:pt x="15076" y="21339"/>
                  <a:pt x="15217" y="21316"/>
                </a:cubicBezTo>
                <a:cubicBezTo>
                  <a:pt x="15304" y="21302"/>
                  <a:pt x="15387" y="21287"/>
                  <a:pt x="15467" y="21271"/>
                </a:cubicBezTo>
                <a:cubicBezTo>
                  <a:pt x="15593" y="21247"/>
                  <a:pt x="15710" y="21224"/>
                  <a:pt x="15817" y="21197"/>
                </a:cubicBezTo>
                <a:cubicBezTo>
                  <a:pt x="15883" y="21180"/>
                  <a:pt x="15946" y="21170"/>
                  <a:pt x="16004" y="21152"/>
                </a:cubicBezTo>
                <a:cubicBezTo>
                  <a:pt x="16107" y="21121"/>
                  <a:pt x="16200" y="21081"/>
                  <a:pt x="16280" y="21047"/>
                </a:cubicBezTo>
                <a:cubicBezTo>
                  <a:pt x="16324" y="21028"/>
                  <a:pt x="16367" y="21008"/>
                  <a:pt x="16405" y="20988"/>
                </a:cubicBezTo>
                <a:cubicBezTo>
                  <a:pt x="16436" y="20971"/>
                  <a:pt x="16466" y="20960"/>
                  <a:pt x="16492" y="20943"/>
                </a:cubicBezTo>
                <a:cubicBezTo>
                  <a:pt x="16503" y="20936"/>
                  <a:pt x="16520" y="20935"/>
                  <a:pt x="16530" y="20928"/>
                </a:cubicBezTo>
                <a:cubicBezTo>
                  <a:pt x="16573" y="20896"/>
                  <a:pt x="16604" y="20854"/>
                  <a:pt x="16630" y="20823"/>
                </a:cubicBezTo>
                <a:cubicBezTo>
                  <a:pt x="16763" y="20663"/>
                  <a:pt x="16889" y="20321"/>
                  <a:pt x="16992" y="19867"/>
                </a:cubicBezTo>
                <a:cubicBezTo>
                  <a:pt x="17027" y="19716"/>
                  <a:pt x="17063" y="19563"/>
                  <a:pt x="17092" y="19389"/>
                </a:cubicBezTo>
                <a:cubicBezTo>
                  <a:pt x="17210" y="18696"/>
                  <a:pt x="17280" y="17838"/>
                  <a:pt x="17280" y="16999"/>
                </a:cubicBezTo>
                <a:cubicBezTo>
                  <a:pt x="17280" y="16331"/>
                  <a:pt x="17273" y="15803"/>
                  <a:pt x="17242" y="15386"/>
                </a:cubicBezTo>
                <a:cubicBezTo>
                  <a:pt x="17196" y="14762"/>
                  <a:pt x="17099" y="14385"/>
                  <a:pt x="16917" y="14146"/>
                </a:cubicBezTo>
                <a:cubicBezTo>
                  <a:pt x="16856" y="14067"/>
                  <a:pt x="16787" y="14004"/>
                  <a:pt x="16705" y="13952"/>
                </a:cubicBezTo>
                <a:cubicBezTo>
                  <a:pt x="16541" y="13847"/>
                  <a:pt x="16333" y="13788"/>
                  <a:pt x="16067" y="13743"/>
                </a:cubicBezTo>
                <a:cubicBezTo>
                  <a:pt x="15802" y="13698"/>
                  <a:pt x="15585" y="13633"/>
                  <a:pt x="15417" y="13519"/>
                </a:cubicBezTo>
                <a:cubicBezTo>
                  <a:pt x="15166" y="13347"/>
                  <a:pt x="15012" y="13054"/>
                  <a:pt x="14904" y="12533"/>
                </a:cubicBezTo>
                <a:cubicBezTo>
                  <a:pt x="14796" y="12010"/>
                  <a:pt x="14732" y="11266"/>
                  <a:pt x="14679" y="10158"/>
                </a:cubicBezTo>
                <a:lnTo>
                  <a:pt x="14517" y="6767"/>
                </a:lnTo>
                <a:lnTo>
                  <a:pt x="11641" y="6767"/>
                </a:ln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Espace réservé du pied de page 4"/>
          <p:cNvSpPr txBox="1"/>
          <p:nvPr/>
        </p:nvSpPr>
        <p:spPr>
          <a:xfrm>
            <a:off x="4211320" y="6502336"/>
            <a:ext cx="404452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Industrialisation IA</a:t>
            </a:r>
          </a:p>
        </p:txBody>
      </p:sp>
      <p:sp>
        <p:nvSpPr>
          <p:cNvPr id="300" name="Espace réservé de la date 3"/>
          <p:cNvSpPr txBox="1"/>
          <p:nvPr/>
        </p:nvSpPr>
        <p:spPr>
          <a:xfrm>
            <a:off x="352637" y="6502336"/>
            <a:ext cx="27533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27.04.25</a:t>
            </a:r>
          </a:p>
        </p:txBody>
      </p:sp>
      <p:sp>
        <p:nvSpPr>
          <p:cNvPr id="301" name="Espace réservé du numéro de diapositive 5"/>
          <p:cNvSpPr txBox="1"/>
          <p:nvPr>
            <p:ph type="sldNum" sz="quarter" idx="2"/>
          </p:nvPr>
        </p:nvSpPr>
        <p:spPr>
          <a:xfrm>
            <a:off x="11600713" y="6502336"/>
            <a:ext cx="284371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304" name="Espace réservé du contenu 2"/>
          <p:cNvGrpSpPr/>
          <p:nvPr/>
        </p:nvGrpSpPr>
        <p:grpSpPr>
          <a:xfrm>
            <a:off x="1017269" y="1600200"/>
            <a:ext cx="10149842" cy="4320000"/>
            <a:chOff x="0" y="0"/>
            <a:chExt cx="10149840" cy="4319999"/>
          </a:xfrm>
        </p:grpSpPr>
        <p:sp>
          <p:nvSpPr>
            <p:cNvPr id="302" name="Rectangle"/>
            <p:cNvSpPr/>
            <p:nvPr/>
          </p:nvSpPr>
          <p:spPr>
            <a:xfrm>
              <a:off x="-1" y="0"/>
              <a:ext cx="10149842" cy="4320000"/>
            </a:xfrm>
            <a:prstGeom prst="rect">
              <a:avLst/>
            </a:prstGeom>
            <a:solidFill>
              <a:srgbClr val="E2F6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spcBef>
                  <a:spcPts val="300"/>
                </a:spcBef>
                <a:defRPr sz="14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</a:p>
          </p:txBody>
        </p:sp>
        <p:sp>
          <p:nvSpPr>
            <p:cNvPr id="303" name="Programmation, bonnes pratiques et comment construire un logiciel utile"/>
            <p:cNvSpPr txBox="1"/>
            <p:nvPr/>
          </p:nvSpPr>
          <p:spPr>
            <a:xfrm>
              <a:off x="54863" y="0"/>
              <a:ext cx="10040113" cy="4320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4864" tIns="54864" rIns="54864" bIns="54864" numCol="1" anchor="ctr">
              <a:normAutofit fontScale="100000" lnSpcReduction="0"/>
            </a:bodyPr>
            <a:lstStyle>
              <a:lvl1pPr algn="ctr" defTabSz="457200">
                <a:spcBef>
                  <a:spcPts val="1000"/>
                </a:spcBef>
                <a:defRPr b="1" sz="4300"/>
              </a:lvl1pPr>
            </a:lstStyle>
            <a:p>
              <a:pPr/>
              <a:r>
                <a:t>Programmation, bonnes pratiques et comment construire un logiciel utile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Espace réservé du pied de page 4"/>
          <p:cNvSpPr txBox="1"/>
          <p:nvPr/>
        </p:nvSpPr>
        <p:spPr>
          <a:xfrm>
            <a:off x="4211320" y="6502336"/>
            <a:ext cx="404452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Industrialisation IA</a:t>
            </a:r>
          </a:p>
        </p:txBody>
      </p:sp>
      <p:sp>
        <p:nvSpPr>
          <p:cNvPr id="307" name="Titr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Quelques étapes pour la réussite d’un projet IA en collaboration</a:t>
            </a:r>
          </a:p>
        </p:txBody>
      </p:sp>
      <p:sp>
        <p:nvSpPr>
          <p:cNvPr id="308" name="Espace réservé de la date 3"/>
          <p:cNvSpPr txBox="1"/>
          <p:nvPr/>
        </p:nvSpPr>
        <p:spPr>
          <a:xfrm>
            <a:off x="352637" y="6502336"/>
            <a:ext cx="27533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27.04.25</a:t>
            </a:r>
          </a:p>
        </p:txBody>
      </p:sp>
      <p:sp>
        <p:nvSpPr>
          <p:cNvPr id="309" name="Espace réservé du numéro de diapositive 5"/>
          <p:cNvSpPr txBox="1"/>
          <p:nvPr>
            <p:ph type="sldNum" sz="quarter" idx="2"/>
          </p:nvPr>
        </p:nvSpPr>
        <p:spPr>
          <a:xfrm>
            <a:off x="11600713" y="6502336"/>
            <a:ext cx="284371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312" name="Grouper"/>
          <p:cNvGrpSpPr/>
          <p:nvPr/>
        </p:nvGrpSpPr>
        <p:grpSpPr>
          <a:xfrm>
            <a:off x="514847" y="1656935"/>
            <a:ext cx="913262" cy="438976"/>
            <a:chOff x="0" y="0"/>
            <a:chExt cx="913260" cy="438975"/>
          </a:xfrm>
        </p:grpSpPr>
        <p:pic>
          <p:nvPicPr>
            <p:cNvPr id="310" name="vidéo-collée.png" descr="vidéo-collée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240498" y="0"/>
              <a:ext cx="432265" cy="43226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11" name="Visual Studio Code"/>
            <p:cNvSpPr/>
            <p:nvPr/>
          </p:nvSpPr>
          <p:spPr>
            <a:xfrm>
              <a:off x="0" y="438975"/>
              <a:ext cx="91326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i="1" sz="1000"/>
              </a:lvl1pPr>
            </a:lstStyle>
            <a:p>
              <a:pPr/>
              <a:r>
                <a:t>Visual Studio Code</a:t>
              </a:r>
            </a:p>
          </p:txBody>
        </p:sp>
      </p:grpSp>
      <p:grpSp>
        <p:nvGrpSpPr>
          <p:cNvPr id="315" name="Grouper"/>
          <p:cNvGrpSpPr/>
          <p:nvPr/>
        </p:nvGrpSpPr>
        <p:grpSpPr>
          <a:xfrm>
            <a:off x="1394301" y="1501601"/>
            <a:ext cx="913261" cy="449781"/>
            <a:chOff x="0" y="0"/>
            <a:chExt cx="913260" cy="449779"/>
          </a:xfrm>
        </p:grpSpPr>
        <p:pic>
          <p:nvPicPr>
            <p:cNvPr id="313" name="vidéo-collée.png" descr="vidéo-collée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240498" y="0"/>
              <a:ext cx="432265" cy="43226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14" name="Intellij"/>
            <p:cNvSpPr/>
            <p:nvPr/>
          </p:nvSpPr>
          <p:spPr>
            <a:xfrm>
              <a:off x="0" y="449779"/>
              <a:ext cx="91326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i="1" sz="1000"/>
              </a:lvl1pPr>
            </a:lstStyle>
            <a:p>
              <a:pPr/>
              <a:r>
                <a:t>Intellij</a:t>
              </a:r>
            </a:p>
          </p:txBody>
        </p:sp>
      </p:grpSp>
      <p:grpSp>
        <p:nvGrpSpPr>
          <p:cNvPr id="318" name="Grouper"/>
          <p:cNvGrpSpPr/>
          <p:nvPr/>
        </p:nvGrpSpPr>
        <p:grpSpPr>
          <a:xfrm>
            <a:off x="2273754" y="1734082"/>
            <a:ext cx="913262" cy="449781"/>
            <a:chOff x="0" y="0"/>
            <a:chExt cx="913260" cy="449779"/>
          </a:xfrm>
        </p:grpSpPr>
        <p:pic>
          <p:nvPicPr>
            <p:cNvPr id="316" name="vidéo-collée.png" descr="vidéo-collée.png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240498" y="0"/>
              <a:ext cx="432265" cy="43226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17" name="PyCharm"/>
            <p:cNvSpPr/>
            <p:nvPr/>
          </p:nvSpPr>
          <p:spPr>
            <a:xfrm>
              <a:off x="0" y="449779"/>
              <a:ext cx="91326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i="1" sz="1000"/>
              </a:lvl1pPr>
            </a:lstStyle>
            <a:p>
              <a:pPr/>
              <a:r>
                <a:t>PyCharm</a:t>
              </a:r>
            </a:p>
          </p:txBody>
        </p:sp>
      </p:grpSp>
      <p:grpSp>
        <p:nvGrpSpPr>
          <p:cNvPr id="321" name="Grouper"/>
          <p:cNvGrpSpPr/>
          <p:nvPr/>
        </p:nvGrpSpPr>
        <p:grpSpPr>
          <a:xfrm>
            <a:off x="999375" y="2858533"/>
            <a:ext cx="1703113" cy="1104930"/>
            <a:chOff x="-110120" y="0"/>
            <a:chExt cx="1703112" cy="1104928"/>
          </a:xfrm>
        </p:grpSpPr>
        <p:pic>
          <p:nvPicPr>
            <p:cNvPr id="319" name="vidéo-collée.png" descr="vidéo-collée.png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392393" y="0"/>
              <a:ext cx="698085" cy="69808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20" name="Utilisation d’un IDE…"/>
            <p:cNvSpPr txBox="1"/>
            <p:nvPr/>
          </p:nvSpPr>
          <p:spPr>
            <a:xfrm>
              <a:off x="-110121" y="685917"/>
              <a:ext cx="1703113" cy="4190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defRPr sz="1200"/>
              </a:pPr>
              <a:r>
                <a:t>Utilisation d’un IDE</a:t>
              </a:r>
            </a:p>
            <a:p>
              <a:pPr algn="ctr">
                <a:defRPr i="1" sz="1000"/>
              </a:pPr>
              <a:r>
                <a:t>But : Coder avec des avantages</a:t>
              </a:r>
            </a:p>
          </p:txBody>
        </p:sp>
      </p:grpSp>
      <p:pic>
        <p:nvPicPr>
          <p:cNvPr id="322" name="Ligne Ligne" descr="Ligne Ligne"/>
          <p:cNvPicPr>
            <a:picLocks noChangeAspect="0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 rot="18900000">
            <a:off x="2099938" y="2572757"/>
            <a:ext cx="409811" cy="38101"/>
          </a:xfrm>
          <a:prstGeom prst="rect">
            <a:avLst/>
          </a:prstGeom>
        </p:spPr>
      </p:pic>
      <p:pic>
        <p:nvPicPr>
          <p:cNvPr id="324" name="Ligne Ligne" descr="Ligne Ligne"/>
          <p:cNvPicPr>
            <a:picLocks noChangeAspect="0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 rot="13500000">
            <a:off x="1192114" y="2572757"/>
            <a:ext cx="409810" cy="38101"/>
          </a:xfrm>
          <a:prstGeom prst="rect">
            <a:avLst/>
          </a:prstGeom>
        </p:spPr>
      </p:pic>
      <p:pic>
        <p:nvPicPr>
          <p:cNvPr id="326" name="Ligne Ligne" descr="Ligne Ligne"/>
          <p:cNvPicPr>
            <a:picLocks noChangeAspect="0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 rot="16200000">
            <a:off x="1646026" y="2572757"/>
            <a:ext cx="409811" cy="38101"/>
          </a:xfrm>
          <a:prstGeom prst="rect">
            <a:avLst/>
          </a:prstGeom>
        </p:spPr>
      </p:pic>
      <p:sp>
        <p:nvSpPr>
          <p:cNvPr id="328" name="Ligne"/>
          <p:cNvSpPr/>
          <p:nvPr/>
        </p:nvSpPr>
        <p:spPr>
          <a:xfrm>
            <a:off x="2649026" y="4015305"/>
            <a:ext cx="669311" cy="669311"/>
          </a:xfrm>
          <a:prstGeom prst="line">
            <a:avLst/>
          </a:prstGeom>
          <a:ln w="25400">
            <a:solidFill>
              <a:srgbClr val="535353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pic>
        <p:nvPicPr>
          <p:cNvPr id="329" name="vidéo-collée.png" descr="vidéo-collée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4056594" y="4457355"/>
            <a:ext cx="634365" cy="634365"/>
          </a:xfrm>
          <a:prstGeom prst="rect">
            <a:avLst/>
          </a:prstGeom>
          <a:ln w="12700">
            <a:miter lim="400000"/>
          </a:ln>
        </p:spPr>
      </p:pic>
      <p:sp>
        <p:nvSpPr>
          <p:cNvPr id="330" name="Définition d’un environnement de travail…"/>
          <p:cNvSpPr txBox="1"/>
          <p:nvPr/>
        </p:nvSpPr>
        <p:spPr>
          <a:xfrm>
            <a:off x="3070770" y="5124767"/>
            <a:ext cx="2606012" cy="419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200"/>
            </a:pPr>
            <a:r>
              <a:t>Définition d’un environnement de travail</a:t>
            </a:r>
          </a:p>
          <a:p>
            <a:pPr algn="ctr">
              <a:defRPr i="1" sz="1000"/>
            </a:pPr>
            <a:r>
              <a:t>But : Avoir les mêmes fonctionnalités</a:t>
            </a:r>
          </a:p>
        </p:txBody>
      </p:sp>
      <p:pic>
        <p:nvPicPr>
          <p:cNvPr id="331" name="vidéo-collée.png" descr="vidéo-collée.png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3122033" y="5651829"/>
            <a:ext cx="398145" cy="398145"/>
          </a:xfrm>
          <a:prstGeom prst="rect">
            <a:avLst/>
          </a:prstGeom>
          <a:ln w="12700">
            <a:miter lim="400000"/>
          </a:ln>
        </p:spPr>
      </p:pic>
      <p:sp>
        <p:nvSpPr>
          <p:cNvPr id="332" name="Poetry"/>
          <p:cNvSpPr txBox="1"/>
          <p:nvPr/>
        </p:nvSpPr>
        <p:spPr>
          <a:xfrm>
            <a:off x="3103153" y="6030993"/>
            <a:ext cx="435904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1000"/>
            </a:lvl1pPr>
          </a:lstStyle>
          <a:p>
            <a:pPr/>
            <a:r>
              <a:t>Poetry</a:t>
            </a:r>
          </a:p>
        </p:txBody>
      </p:sp>
      <p:pic>
        <p:nvPicPr>
          <p:cNvPr id="333" name="vidéo-collée.png" descr="vidéo-collée.png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4849218" y="5784824"/>
            <a:ext cx="132156" cy="132155"/>
          </a:xfrm>
          <a:prstGeom prst="rect">
            <a:avLst/>
          </a:prstGeom>
          <a:ln w="12700">
            <a:miter lim="400000"/>
          </a:ln>
        </p:spPr>
      </p:pic>
      <p:pic>
        <p:nvPicPr>
          <p:cNvPr id="334" name="vidéo-collée.png" descr="vidéo-collée.png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5241327" y="5651829"/>
            <a:ext cx="398145" cy="398145"/>
          </a:xfrm>
          <a:prstGeom prst="rect">
            <a:avLst/>
          </a:prstGeom>
          <a:ln w="12700">
            <a:miter lim="400000"/>
          </a:ln>
        </p:spPr>
      </p:pic>
      <p:sp>
        <p:nvSpPr>
          <p:cNvPr id="335" name="PyEnv"/>
          <p:cNvSpPr txBox="1"/>
          <p:nvPr/>
        </p:nvSpPr>
        <p:spPr>
          <a:xfrm>
            <a:off x="5236400" y="6030993"/>
            <a:ext cx="407999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1000"/>
            </a:lvl1pPr>
          </a:lstStyle>
          <a:p>
            <a:pPr/>
            <a:r>
              <a:t>PyEnv</a:t>
            </a:r>
          </a:p>
        </p:txBody>
      </p:sp>
      <p:pic>
        <p:nvPicPr>
          <p:cNvPr id="336" name="vidéo-collée.png" descr="vidéo-collée.png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4191120" y="5651829"/>
            <a:ext cx="398145" cy="398145"/>
          </a:xfrm>
          <a:prstGeom prst="rect">
            <a:avLst/>
          </a:prstGeom>
          <a:ln w="12700">
            <a:miter lim="400000"/>
          </a:ln>
        </p:spPr>
      </p:pic>
      <p:sp>
        <p:nvSpPr>
          <p:cNvPr id="337" name="UV"/>
          <p:cNvSpPr txBox="1"/>
          <p:nvPr/>
        </p:nvSpPr>
        <p:spPr>
          <a:xfrm>
            <a:off x="4261351" y="6030993"/>
            <a:ext cx="25768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1000"/>
            </a:lvl1pPr>
          </a:lstStyle>
          <a:p>
            <a:pPr/>
            <a:r>
              <a:t>UV</a:t>
            </a:r>
          </a:p>
        </p:txBody>
      </p:sp>
      <p:sp>
        <p:nvSpPr>
          <p:cNvPr id="338" name="ou"/>
          <p:cNvSpPr txBox="1"/>
          <p:nvPr/>
        </p:nvSpPr>
        <p:spPr>
          <a:xfrm>
            <a:off x="3736730" y="5736645"/>
            <a:ext cx="237838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/>
            </a:lvl1pPr>
          </a:lstStyle>
          <a:p>
            <a:pPr/>
            <a:r>
              <a:t>ou</a:t>
            </a:r>
          </a:p>
        </p:txBody>
      </p:sp>
      <p:sp>
        <p:nvSpPr>
          <p:cNvPr id="339" name="Ligne"/>
          <p:cNvSpPr/>
          <p:nvPr/>
        </p:nvSpPr>
        <p:spPr>
          <a:xfrm flipV="1">
            <a:off x="5415688" y="4006325"/>
            <a:ext cx="669311" cy="669311"/>
          </a:xfrm>
          <a:prstGeom prst="line">
            <a:avLst/>
          </a:prstGeom>
          <a:ln w="25400">
            <a:solidFill>
              <a:srgbClr val="535353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40" name="Ligne"/>
          <p:cNvSpPr/>
          <p:nvPr/>
        </p:nvSpPr>
        <p:spPr>
          <a:xfrm>
            <a:off x="8256409" y="4015305"/>
            <a:ext cx="669311" cy="669311"/>
          </a:xfrm>
          <a:prstGeom prst="line">
            <a:avLst/>
          </a:prstGeom>
          <a:ln w="25400">
            <a:solidFill>
              <a:srgbClr val="535353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41" name="Grouper"/>
          <p:cNvSpPr/>
          <p:nvPr/>
        </p:nvSpPr>
        <p:spPr>
          <a:xfrm>
            <a:off x="7129184" y="3321153"/>
            <a:ext cx="1270001" cy="1270001"/>
          </a:xfrm>
          <a:prstGeom prst="line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1200"/>
            </a:pPr>
            <a:r>
              <a:t>Versionner son code et ses données</a:t>
            </a:r>
          </a:p>
          <a:p>
            <a:pPr algn="ctr">
              <a:defRPr i="1" sz="1000"/>
            </a:pPr>
            <a:r>
              <a:t>But : Collaborer et retracer l’histoire de ceux-ci</a:t>
            </a:r>
          </a:p>
        </p:txBody>
      </p:sp>
      <p:pic>
        <p:nvPicPr>
          <p:cNvPr id="342" name="vidéo-collée.png" descr="vidéo-collée.png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6812002" y="2661928"/>
            <a:ext cx="634365" cy="634365"/>
          </a:xfrm>
          <a:prstGeom prst="rect">
            <a:avLst/>
          </a:prstGeom>
          <a:ln w="12700">
            <a:miter lim="400000"/>
          </a:ln>
        </p:spPr>
      </p:pic>
      <p:pic>
        <p:nvPicPr>
          <p:cNvPr id="343" name="vidéo-collée.png" descr="vidéo-collée.png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7427358" y="1800809"/>
            <a:ext cx="132155" cy="132155"/>
          </a:xfrm>
          <a:prstGeom prst="rect">
            <a:avLst/>
          </a:prstGeom>
          <a:ln w="12700">
            <a:miter lim="400000"/>
          </a:ln>
        </p:spPr>
      </p:pic>
      <p:pic>
        <p:nvPicPr>
          <p:cNvPr id="344" name="vidéo-collée.png" descr="vidéo-collée.png"/>
          <p:cNvPicPr>
            <a:picLocks noChangeAspect="1"/>
          </p:cNvPicPr>
          <p:nvPr/>
        </p:nvPicPr>
        <p:blipFill>
          <a:blip r:embed="rId14">
            <a:extLst/>
          </a:blip>
          <a:stretch>
            <a:fillRect/>
          </a:stretch>
        </p:blipFill>
        <p:spPr>
          <a:xfrm>
            <a:off x="7884280" y="1648935"/>
            <a:ext cx="435904" cy="435904"/>
          </a:xfrm>
          <a:prstGeom prst="rect">
            <a:avLst/>
          </a:prstGeom>
          <a:ln w="12700">
            <a:miter lim="400000"/>
          </a:ln>
        </p:spPr>
      </p:pic>
      <p:sp>
        <p:nvSpPr>
          <p:cNvPr id="345" name="Data Version Control"/>
          <p:cNvSpPr txBox="1"/>
          <p:nvPr/>
        </p:nvSpPr>
        <p:spPr>
          <a:xfrm>
            <a:off x="7519217" y="2033687"/>
            <a:ext cx="116603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1000"/>
            </a:lvl1pPr>
          </a:lstStyle>
          <a:p>
            <a:pPr/>
            <a:r>
              <a:t>Data Version Control</a:t>
            </a:r>
          </a:p>
        </p:txBody>
      </p:sp>
      <p:sp>
        <p:nvSpPr>
          <p:cNvPr id="346" name="ou"/>
          <p:cNvSpPr txBox="1"/>
          <p:nvPr/>
        </p:nvSpPr>
        <p:spPr>
          <a:xfrm>
            <a:off x="6347513" y="1752631"/>
            <a:ext cx="237838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/>
            </a:lvl1pPr>
          </a:lstStyle>
          <a:p>
            <a:pPr/>
            <a:r>
              <a:t>ou</a:t>
            </a:r>
          </a:p>
        </p:txBody>
      </p:sp>
      <p:pic>
        <p:nvPicPr>
          <p:cNvPr id="347" name="vidéo-collée.png" descr="vidéo-collée.png"/>
          <p:cNvPicPr>
            <a:picLocks noChangeAspect="1"/>
          </p:cNvPicPr>
          <p:nvPr/>
        </p:nvPicPr>
        <p:blipFill>
          <a:blip r:embed="rId15">
            <a:extLst/>
          </a:blip>
          <a:stretch>
            <a:fillRect/>
          </a:stretch>
        </p:blipFill>
        <p:spPr>
          <a:xfrm>
            <a:off x="5881551" y="1693453"/>
            <a:ext cx="346868" cy="346868"/>
          </a:xfrm>
          <a:prstGeom prst="rect">
            <a:avLst/>
          </a:prstGeom>
          <a:ln w="12700">
            <a:miter lim="400000"/>
          </a:ln>
        </p:spPr>
      </p:pic>
      <p:sp>
        <p:nvSpPr>
          <p:cNvPr id="348" name="GitHub"/>
          <p:cNvSpPr txBox="1"/>
          <p:nvPr/>
        </p:nvSpPr>
        <p:spPr>
          <a:xfrm>
            <a:off x="5822150" y="2033687"/>
            <a:ext cx="465669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1000"/>
            </a:lvl1pPr>
          </a:lstStyle>
          <a:p>
            <a:pPr/>
            <a:r>
              <a:t>GitHub</a:t>
            </a:r>
          </a:p>
        </p:txBody>
      </p:sp>
      <p:pic>
        <p:nvPicPr>
          <p:cNvPr id="349" name="vidéo-collée.png" descr="vidéo-collée.png"/>
          <p:cNvPicPr>
            <a:picLocks noChangeAspect="1"/>
          </p:cNvPicPr>
          <p:nvPr/>
        </p:nvPicPr>
        <p:blipFill>
          <a:blip r:embed="rId16">
            <a:extLst/>
          </a:blip>
          <a:stretch>
            <a:fillRect/>
          </a:stretch>
        </p:blipFill>
        <p:spPr>
          <a:xfrm>
            <a:off x="6704445" y="1642072"/>
            <a:ext cx="398145" cy="398145"/>
          </a:xfrm>
          <a:prstGeom prst="rect">
            <a:avLst/>
          </a:prstGeom>
          <a:ln w="12700">
            <a:miter lim="400000"/>
          </a:ln>
        </p:spPr>
      </p:pic>
      <p:sp>
        <p:nvSpPr>
          <p:cNvPr id="350" name="GitLab"/>
          <p:cNvSpPr txBox="1"/>
          <p:nvPr/>
        </p:nvSpPr>
        <p:spPr>
          <a:xfrm>
            <a:off x="6683551" y="2055213"/>
            <a:ext cx="439935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1000"/>
            </a:lvl1pPr>
          </a:lstStyle>
          <a:p>
            <a:pPr/>
            <a:r>
              <a:t>GitLab</a:t>
            </a:r>
          </a:p>
        </p:txBody>
      </p:sp>
      <p:pic>
        <p:nvPicPr>
          <p:cNvPr id="351" name="Ligne Ligne" descr="Ligne Ligne"/>
          <p:cNvPicPr>
            <a:picLocks noChangeAspect="0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 rot="13500000">
            <a:off x="6494002" y="2430141"/>
            <a:ext cx="409811" cy="38101"/>
          </a:xfrm>
          <a:prstGeom prst="rect">
            <a:avLst/>
          </a:prstGeom>
        </p:spPr>
      </p:pic>
      <p:pic>
        <p:nvPicPr>
          <p:cNvPr id="353" name="Ligne Ligne" descr="Ligne Ligne"/>
          <p:cNvPicPr>
            <a:picLocks noChangeAspect="0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 rot="18900000">
            <a:off x="7429599" y="2430141"/>
            <a:ext cx="409810" cy="38101"/>
          </a:xfrm>
          <a:prstGeom prst="rect">
            <a:avLst/>
          </a:prstGeom>
        </p:spPr>
      </p:pic>
      <p:sp>
        <p:nvSpPr>
          <p:cNvPr id="355" name="Grouper"/>
          <p:cNvSpPr/>
          <p:nvPr/>
        </p:nvSpPr>
        <p:spPr>
          <a:xfrm>
            <a:off x="10301869" y="5124767"/>
            <a:ext cx="1270001" cy="1270001"/>
          </a:xfrm>
          <a:prstGeom prst="line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1200"/>
            </a:pPr>
            <a:r>
              <a:t>Tracer ses expérimentations de ML</a:t>
            </a:r>
          </a:p>
          <a:p>
            <a:pPr algn="ctr">
              <a:defRPr i="1" sz="1000"/>
            </a:pPr>
            <a:r>
              <a:t>But : Historiser les résultats des tests</a:t>
            </a:r>
          </a:p>
        </p:txBody>
      </p:sp>
      <p:pic>
        <p:nvPicPr>
          <p:cNvPr id="356" name="vidéo-collée.png" descr="vidéo-collée.png"/>
          <p:cNvPicPr>
            <a:picLocks noChangeAspect="1"/>
          </p:cNvPicPr>
          <p:nvPr/>
        </p:nvPicPr>
        <p:blipFill>
          <a:blip r:embed="rId17">
            <a:extLst/>
          </a:blip>
          <a:stretch>
            <a:fillRect/>
          </a:stretch>
        </p:blipFill>
        <p:spPr>
          <a:xfrm>
            <a:off x="9984687" y="4457355"/>
            <a:ext cx="634365" cy="634365"/>
          </a:xfrm>
          <a:prstGeom prst="rect">
            <a:avLst/>
          </a:prstGeom>
          <a:ln w="12700">
            <a:miter lim="400000"/>
          </a:ln>
        </p:spPr>
      </p:pic>
      <p:pic>
        <p:nvPicPr>
          <p:cNvPr id="357" name="vidéo-collée.png" descr="vidéo-collée.png"/>
          <p:cNvPicPr>
            <a:picLocks noChangeAspect="1"/>
          </p:cNvPicPr>
          <p:nvPr/>
        </p:nvPicPr>
        <p:blipFill>
          <a:blip r:embed="rId18">
            <a:extLst/>
          </a:blip>
          <a:stretch>
            <a:fillRect/>
          </a:stretch>
        </p:blipFill>
        <p:spPr>
          <a:xfrm>
            <a:off x="9758946" y="5651829"/>
            <a:ext cx="1085848" cy="39814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Espace réservé du pied de page 4"/>
          <p:cNvSpPr txBox="1"/>
          <p:nvPr/>
        </p:nvSpPr>
        <p:spPr>
          <a:xfrm>
            <a:off x="4211320" y="6502336"/>
            <a:ext cx="404452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Industrialisation IA</a:t>
            </a:r>
          </a:p>
        </p:txBody>
      </p:sp>
      <p:sp>
        <p:nvSpPr>
          <p:cNvPr id="362" name="Titr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Bonne pratique de programmation Python : PEP8, Orienté Objet et SOLID</a:t>
            </a:r>
          </a:p>
        </p:txBody>
      </p:sp>
      <p:sp>
        <p:nvSpPr>
          <p:cNvPr id="363" name="Espace réservé de la date 3"/>
          <p:cNvSpPr txBox="1"/>
          <p:nvPr/>
        </p:nvSpPr>
        <p:spPr>
          <a:xfrm>
            <a:off x="352637" y="6502336"/>
            <a:ext cx="27533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27.04.25</a:t>
            </a:r>
          </a:p>
        </p:txBody>
      </p:sp>
      <p:sp>
        <p:nvSpPr>
          <p:cNvPr id="364" name="Espace réservé du numéro de diapositive 5"/>
          <p:cNvSpPr txBox="1"/>
          <p:nvPr>
            <p:ph type="sldNum" sz="quarter" idx="2"/>
          </p:nvPr>
        </p:nvSpPr>
        <p:spPr>
          <a:xfrm>
            <a:off x="11600713" y="6502336"/>
            <a:ext cx="284371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65" name="Connecteur droit 2"/>
          <p:cNvSpPr/>
          <p:nvPr/>
        </p:nvSpPr>
        <p:spPr>
          <a:xfrm flipH="1">
            <a:off x="4272291" y="1803400"/>
            <a:ext cx="1" cy="4227846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6" name="Espace réservé du contenu 6"/>
          <p:cNvSpPr txBox="1"/>
          <p:nvPr/>
        </p:nvSpPr>
        <p:spPr>
          <a:xfrm>
            <a:off x="505813" y="3159251"/>
            <a:ext cx="3502688" cy="1341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just" defTabSz="548640">
              <a:spcBef>
                <a:spcPts val="300"/>
              </a:spcBef>
              <a:defRPr sz="1400"/>
            </a:pPr>
            <a:r>
              <a:t>Ensemble de pratiques pour faire du code dans les standards Python </a:t>
            </a:r>
          </a:p>
          <a:p>
            <a:pPr marL="285750" indent="-285750" algn="just" defTabSz="548640">
              <a:spcBef>
                <a:spcPts val="300"/>
              </a:spcBef>
              <a:buSzPct val="100000"/>
              <a:buFont typeface="Arial"/>
              <a:buChar char="•"/>
              <a:defRPr sz="1400"/>
            </a:pPr>
            <a:r>
              <a:t>Respecter la snake_case ;</a:t>
            </a:r>
          </a:p>
          <a:p>
            <a:pPr marL="285750" indent="-285750" algn="just" defTabSz="548640">
              <a:spcBef>
                <a:spcPts val="300"/>
              </a:spcBef>
              <a:buSzPct val="100000"/>
              <a:buFont typeface="Arial"/>
              <a:buChar char="•"/>
              <a:defRPr sz="1400"/>
            </a:pPr>
            <a:r>
              <a:t>Faire des doctrines ;</a:t>
            </a:r>
          </a:p>
          <a:p>
            <a:pPr marL="285750" indent="-285750" algn="just" defTabSz="548640">
              <a:spcBef>
                <a:spcPts val="300"/>
              </a:spcBef>
              <a:buSzPct val="100000"/>
              <a:buFont typeface="Arial"/>
              <a:buChar char="•"/>
              <a:defRPr sz="1400"/>
            </a:pPr>
            <a:r>
              <a:t>Ne pas laisser d’éléments non utilisés…</a:t>
            </a:r>
          </a:p>
        </p:txBody>
      </p:sp>
      <p:sp>
        <p:nvSpPr>
          <p:cNvPr id="367" name="Connecteur droit 2"/>
          <p:cNvSpPr/>
          <p:nvPr/>
        </p:nvSpPr>
        <p:spPr>
          <a:xfrm flipH="1">
            <a:off x="8143188" y="1803400"/>
            <a:ext cx="1" cy="4227846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8" name="PEP8 : Python Enhancement Proposal…"/>
          <p:cNvSpPr txBox="1"/>
          <p:nvPr/>
        </p:nvSpPr>
        <p:spPr>
          <a:xfrm>
            <a:off x="960416" y="1869429"/>
            <a:ext cx="3262770" cy="502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600"/>
            </a:pPr>
            <a:r>
              <a:t>PEP8 : Python Enhancement Proposal</a:t>
            </a:r>
          </a:p>
          <a:p>
            <a:pPr>
              <a:defRPr i="1" sz="1200"/>
            </a:pPr>
            <a:r>
              <a:t>Norme de programmation Python</a:t>
            </a:r>
          </a:p>
        </p:txBody>
      </p:sp>
      <p:pic>
        <p:nvPicPr>
          <p:cNvPr id="369" name="vidéo-collée.png" descr="vidéo-collé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45740" y="1803400"/>
            <a:ext cx="578271" cy="634364"/>
          </a:xfrm>
          <a:prstGeom prst="rect">
            <a:avLst/>
          </a:prstGeom>
          <a:ln w="12700">
            <a:miter lim="400000"/>
          </a:ln>
        </p:spPr>
      </p:pic>
      <p:pic>
        <p:nvPicPr>
          <p:cNvPr id="370" name="vidéo-collée.png" descr="vidéo-collée.png"/>
          <p:cNvPicPr>
            <a:picLocks noChangeAspect="1"/>
          </p:cNvPicPr>
          <p:nvPr/>
        </p:nvPicPr>
        <p:blipFill>
          <a:blip r:embed="rId4">
            <a:extLst/>
          </a:blip>
          <a:srcRect l="11219" t="7264" r="11219" b="23137"/>
          <a:stretch>
            <a:fillRect/>
          </a:stretch>
        </p:blipFill>
        <p:spPr>
          <a:xfrm>
            <a:off x="4365588" y="1803399"/>
            <a:ext cx="578336" cy="563214"/>
          </a:xfrm>
          <a:prstGeom prst="rect">
            <a:avLst/>
          </a:prstGeom>
          <a:ln w="12700">
            <a:miter lim="400000"/>
          </a:ln>
        </p:spPr>
      </p:pic>
      <p:sp>
        <p:nvSpPr>
          <p:cNvPr id="371" name="Programmation Orientée Objet…"/>
          <p:cNvSpPr txBox="1"/>
          <p:nvPr/>
        </p:nvSpPr>
        <p:spPr>
          <a:xfrm>
            <a:off x="4982642" y="1871965"/>
            <a:ext cx="3043868" cy="502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600"/>
            </a:pPr>
            <a:r>
              <a:t>Programmation Orientée Objet</a:t>
            </a:r>
          </a:p>
          <a:p>
            <a:pPr>
              <a:defRPr i="1" sz="1200"/>
            </a:pPr>
            <a:r>
              <a:t>Synthèse de fonctions pour suivre dans le temps</a:t>
            </a:r>
          </a:p>
        </p:txBody>
      </p:sp>
      <p:sp>
        <p:nvSpPr>
          <p:cNvPr id="372" name="Programmation SOLID…"/>
          <p:cNvSpPr txBox="1"/>
          <p:nvPr/>
        </p:nvSpPr>
        <p:spPr>
          <a:xfrm>
            <a:off x="9027664" y="1869429"/>
            <a:ext cx="2687351" cy="502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600"/>
            </a:pPr>
            <a:r>
              <a:t>Programmation SOLID</a:t>
            </a:r>
          </a:p>
          <a:p>
            <a:pPr>
              <a:defRPr i="1" sz="1200"/>
            </a:pPr>
            <a:r>
              <a:t>Comment construire une bonne fonction ?</a:t>
            </a:r>
          </a:p>
        </p:txBody>
      </p:sp>
      <p:pic>
        <p:nvPicPr>
          <p:cNvPr id="373" name="vidéo-collée.png" descr="vidéo-collé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709393" y="2789573"/>
            <a:ext cx="578271" cy="578271"/>
          </a:xfrm>
          <a:prstGeom prst="rect">
            <a:avLst/>
          </a:prstGeom>
          <a:ln w="12700">
            <a:miter lim="400000"/>
          </a:ln>
        </p:spPr>
      </p:pic>
      <p:sp>
        <p:nvSpPr>
          <p:cNvPr id="374" name="Grouper"/>
          <p:cNvSpPr/>
          <p:nvPr/>
        </p:nvSpPr>
        <p:spPr>
          <a:xfrm>
            <a:off x="6680224" y="2869203"/>
            <a:ext cx="1270001" cy="1270001"/>
          </a:xfrm>
          <a:prstGeom prst="line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1200"/>
            </a:pPr>
            <a:r>
              <a:t>Exemple d’object : Client de Banque</a:t>
            </a:r>
          </a:p>
          <a:p>
            <a:pPr algn="ctr">
              <a:defRPr i="1" sz="1000"/>
            </a:pPr>
            <a:r>
              <a:t>Attributs : Montant sur le compte, nom, prénom</a:t>
            </a:r>
          </a:p>
        </p:txBody>
      </p:sp>
      <p:sp>
        <p:nvSpPr>
          <p:cNvPr id="375" name="Ligne"/>
          <p:cNvSpPr/>
          <p:nvPr/>
        </p:nvSpPr>
        <p:spPr>
          <a:xfrm>
            <a:off x="4998528" y="3579449"/>
            <a:ext cx="1" cy="675748"/>
          </a:xfrm>
          <a:prstGeom prst="line">
            <a:avLst/>
          </a:prstGeom>
          <a:ln w="25400">
            <a:solidFill>
              <a:srgbClr val="535353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pic>
        <p:nvPicPr>
          <p:cNvPr id="376" name="vidéo-collée.png" descr="vidéo-collée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591798" y="4381468"/>
            <a:ext cx="813462" cy="563167"/>
          </a:xfrm>
          <a:prstGeom prst="rect">
            <a:avLst/>
          </a:prstGeom>
          <a:ln w="12700">
            <a:miter lim="400000"/>
          </a:ln>
        </p:spPr>
      </p:pic>
      <p:sp>
        <p:nvSpPr>
          <p:cNvPr id="377" name="Grouper"/>
          <p:cNvSpPr/>
          <p:nvPr/>
        </p:nvSpPr>
        <p:spPr>
          <a:xfrm>
            <a:off x="6731011" y="4453546"/>
            <a:ext cx="1270001" cy="1270001"/>
          </a:xfrm>
          <a:prstGeom prst="line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1200"/>
            </a:pPr>
            <a:r>
              <a:t>Objet hérité : Client crédit agricole</a:t>
            </a:r>
          </a:p>
          <a:p>
            <a:pPr algn="ctr">
              <a:defRPr i="1" sz="1000"/>
            </a:pPr>
            <a:r>
              <a:t>Attributs : Nom de l’agence, caisse régionale…</a:t>
            </a:r>
          </a:p>
        </p:txBody>
      </p:sp>
      <p:pic>
        <p:nvPicPr>
          <p:cNvPr id="378" name="vidéo-collée.png" descr="vidéo-collée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30575" y="5489822"/>
            <a:ext cx="398145" cy="398145"/>
          </a:xfrm>
          <a:prstGeom prst="rect">
            <a:avLst/>
          </a:prstGeom>
          <a:ln w="12700">
            <a:miter lim="400000"/>
          </a:ln>
        </p:spPr>
      </p:pic>
      <p:sp>
        <p:nvSpPr>
          <p:cNvPr id="379" name="But : Normalisation du code, possibilité de le rendre compréhensible de tous…"/>
          <p:cNvSpPr txBox="1"/>
          <p:nvPr/>
        </p:nvSpPr>
        <p:spPr>
          <a:xfrm>
            <a:off x="1127801" y="5489822"/>
            <a:ext cx="2685285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1200"/>
            </a:pPr>
            <a:r>
              <a:rPr b="1"/>
              <a:t>But</a:t>
            </a:r>
            <a:r>
              <a:t> : Normalisation du code, possibilité de le rendre compréhensible de tous…</a:t>
            </a:r>
          </a:p>
        </p:txBody>
      </p:sp>
      <p:pic>
        <p:nvPicPr>
          <p:cNvPr id="380" name="vidéo-collée.png" descr="vidéo-collée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4572034" y="5504083"/>
            <a:ext cx="398145" cy="398145"/>
          </a:xfrm>
          <a:prstGeom prst="rect">
            <a:avLst/>
          </a:prstGeom>
          <a:ln w="12700">
            <a:miter lim="400000"/>
          </a:ln>
        </p:spPr>
      </p:pic>
      <p:sp>
        <p:nvSpPr>
          <p:cNvPr id="381" name="But : Regrouper et normaliser des éléments avec des caractéristiques communes, suivre l’état d’un élément…"/>
          <p:cNvSpPr txBox="1"/>
          <p:nvPr/>
        </p:nvSpPr>
        <p:spPr>
          <a:xfrm>
            <a:off x="5069261" y="5504083"/>
            <a:ext cx="2685284" cy="629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1200"/>
            </a:pPr>
            <a:r>
              <a:rPr b="1"/>
              <a:t>But</a:t>
            </a:r>
            <a:r>
              <a:t> : Regrouper et normaliser des éléments avec des caractéristiques communes, suivre l’état d’un élément…</a:t>
            </a:r>
          </a:p>
        </p:txBody>
      </p:sp>
      <p:pic>
        <p:nvPicPr>
          <p:cNvPr id="382" name="vidéo-collée.png" descr="vidéo-collée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8565187" y="5469491"/>
            <a:ext cx="398145" cy="398145"/>
          </a:xfrm>
          <a:prstGeom prst="rect">
            <a:avLst/>
          </a:prstGeom>
          <a:ln w="12700">
            <a:miter lim="400000"/>
          </a:ln>
        </p:spPr>
      </p:pic>
      <p:sp>
        <p:nvSpPr>
          <p:cNvPr id="383" name="But : Avoir des fonctions simples à tester, limiter les erreurs…"/>
          <p:cNvSpPr txBox="1"/>
          <p:nvPr/>
        </p:nvSpPr>
        <p:spPr>
          <a:xfrm>
            <a:off x="9062414" y="5469491"/>
            <a:ext cx="2685284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1200"/>
            </a:pPr>
            <a:r>
              <a:rPr b="1"/>
              <a:t>But</a:t>
            </a:r>
            <a:r>
              <a:t> : Avoir des fonctions simples à tester, limiter les erreurs…</a:t>
            </a:r>
          </a:p>
        </p:txBody>
      </p:sp>
      <p:sp>
        <p:nvSpPr>
          <p:cNvPr id="384" name="Grouper"/>
          <p:cNvSpPr/>
          <p:nvPr/>
        </p:nvSpPr>
        <p:spPr>
          <a:xfrm>
            <a:off x="10084345" y="2540097"/>
            <a:ext cx="1270001" cy="1270001"/>
          </a:xfrm>
          <a:prstGeom prst="line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1200"/>
            </a:pPr>
            <a:r>
              <a:t>Single Responsability Principle </a:t>
            </a:r>
          </a:p>
          <a:p>
            <a:pPr algn="ctr">
              <a:defRPr i="1" sz="1000"/>
            </a:pPr>
            <a:r>
              <a:t>Chaque fonction doit avoir une seule fonctionnalité</a:t>
            </a:r>
          </a:p>
        </p:txBody>
      </p:sp>
      <p:sp>
        <p:nvSpPr>
          <p:cNvPr id="385" name="Grouper"/>
          <p:cNvSpPr/>
          <p:nvPr/>
        </p:nvSpPr>
        <p:spPr>
          <a:xfrm>
            <a:off x="10084345" y="3080191"/>
            <a:ext cx="1270001" cy="1270001"/>
          </a:xfrm>
          <a:prstGeom prst="line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1200"/>
            </a:pPr>
            <a:r>
              <a:t>Open / Closed Principle</a:t>
            </a:r>
          </a:p>
          <a:p>
            <a:pPr algn="ctr">
              <a:defRPr i="1" sz="1000"/>
            </a:pPr>
            <a:r>
              <a:t>Ouvert à l’extension, fermé à la modification</a:t>
            </a:r>
          </a:p>
        </p:txBody>
      </p:sp>
      <p:sp>
        <p:nvSpPr>
          <p:cNvPr id="386" name="Grouper"/>
          <p:cNvSpPr/>
          <p:nvPr/>
        </p:nvSpPr>
        <p:spPr>
          <a:xfrm>
            <a:off x="10084345" y="3625474"/>
            <a:ext cx="1270001" cy="1270001"/>
          </a:xfrm>
          <a:prstGeom prst="line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1200"/>
            </a:pPr>
            <a:r>
              <a:t>Liskov Substitution Principle</a:t>
            </a:r>
          </a:p>
          <a:p>
            <a:pPr algn="ctr">
              <a:defRPr i="1" sz="1000"/>
            </a:pPr>
            <a:r>
              <a:t>Les classes héritées doivent avoir les méthodes de la classe</a:t>
            </a:r>
          </a:p>
          <a:p>
            <a:pPr algn="ctr">
              <a:defRPr i="1" sz="1000"/>
            </a:pPr>
            <a:r>
              <a:t>mère fonctionnelles</a:t>
            </a:r>
          </a:p>
        </p:txBody>
      </p:sp>
      <p:sp>
        <p:nvSpPr>
          <p:cNvPr id="387" name="Grouper"/>
          <p:cNvSpPr/>
          <p:nvPr/>
        </p:nvSpPr>
        <p:spPr>
          <a:xfrm>
            <a:off x="10084345" y="4286718"/>
            <a:ext cx="1270001" cy="1270001"/>
          </a:xfrm>
          <a:prstGeom prst="line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1200"/>
            </a:pPr>
            <a:r>
              <a:t>Interface segregation principle</a:t>
            </a:r>
          </a:p>
          <a:p>
            <a:pPr algn="ctr">
              <a:defRPr i="1" sz="1000"/>
            </a:pPr>
            <a:r>
              <a:t>Une classe ne doit avoir que des fonctions utiles à sa classe</a:t>
            </a:r>
          </a:p>
        </p:txBody>
      </p:sp>
      <p:sp>
        <p:nvSpPr>
          <p:cNvPr id="388" name="Grouper"/>
          <p:cNvSpPr/>
          <p:nvPr/>
        </p:nvSpPr>
        <p:spPr>
          <a:xfrm>
            <a:off x="10084345" y="4782863"/>
            <a:ext cx="1270001" cy="1270001"/>
          </a:xfrm>
          <a:prstGeom prst="line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1200"/>
            </a:pPr>
            <a:r>
              <a:t>Dependency Inversion Principle</a:t>
            </a:r>
          </a:p>
          <a:p>
            <a:pPr algn="ctr">
              <a:defRPr i="1" sz="1000"/>
            </a:pPr>
            <a:r>
              <a:t>Non détaillé, pas le plus important…</a:t>
            </a:r>
          </a:p>
        </p:txBody>
      </p:sp>
      <p:pic>
        <p:nvPicPr>
          <p:cNvPr id="389" name="vidéo-collée.png" descr="vidéo-collée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8385414" y="1828988"/>
            <a:ext cx="537578" cy="53757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Espace réservé du pied de page 4"/>
          <p:cNvSpPr txBox="1"/>
          <p:nvPr/>
        </p:nvSpPr>
        <p:spPr>
          <a:xfrm>
            <a:off x="4211320" y="6502336"/>
            <a:ext cx="404452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Industrialisation IA</a:t>
            </a:r>
          </a:p>
        </p:txBody>
      </p:sp>
      <p:sp>
        <p:nvSpPr>
          <p:cNvPr id="394" name="Titr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3 principaux modes de livraison de code</a:t>
            </a:r>
          </a:p>
        </p:txBody>
      </p:sp>
      <p:sp>
        <p:nvSpPr>
          <p:cNvPr id="395" name="Espace réservé de la date 3"/>
          <p:cNvSpPr txBox="1"/>
          <p:nvPr/>
        </p:nvSpPr>
        <p:spPr>
          <a:xfrm>
            <a:off x="352637" y="6502336"/>
            <a:ext cx="27533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27.04.25</a:t>
            </a:r>
          </a:p>
        </p:txBody>
      </p:sp>
      <p:sp>
        <p:nvSpPr>
          <p:cNvPr id="396" name="Espace réservé du numéro de diapositive 5"/>
          <p:cNvSpPr txBox="1"/>
          <p:nvPr>
            <p:ph type="sldNum" sz="quarter" idx="2"/>
          </p:nvPr>
        </p:nvSpPr>
        <p:spPr>
          <a:xfrm>
            <a:off x="11600713" y="6502336"/>
            <a:ext cx="284371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97" name="Connecteur droit 2"/>
          <p:cNvSpPr/>
          <p:nvPr/>
        </p:nvSpPr>
        <p:spPr>
          <a:xfrm flipH="1">
            <a:off x="3851841" y="1670003"/>
            <a:ext cx="1" cy="432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8" name="Connecteur droit 4"/>
          <p:cNvSpPr/>
          <p:nvPr/>
        </p:nvSpPr>
        <p:spPr>
          <a:xfrm flipH="1">
            <a:off x="7942446" y="1673531"/>
            <a:ext cx="1" cy="4320001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399" name="vidéo-collée.png" descr="vidéo-collé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1162" y="1613313"/>
            <a:ext cx="634365" cy="634365"/>
          </a:xfrm>
          <a:prstGeom prst="rect">
            <a:avLst/>
          </a:prstGeom>
          <a:ln w="12700">
            <a:miter lim="400000"/>
          </a:ln>
        </p:spPr>
      </p:pic>
      <p:pic>
        <p:nvPicPr>
          <p:cNvPr id="400" name="vidéo-collée.png" descr="vidéo-collé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181845" y="1613313"/>
            <a:ext cx="634365" cy="634365"/>
          </a:xfrm>
          <a:prstGeom prst="rect">
            <a:avLst/>
          </a:prstGeom>
          <a:ln w="12700">
            <a:miter lim="400000"/>
          </a:ln>
        </p:spPr>
      </p:pic>
      <p:pic>
        <p:nvPicPr>
          <p:cNvPr id="401" name="vidéo-collée.png" descr="vidéo-collé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190454" y="1613313"/>
            <a:ext cx="634365" cy="634365"/>
          </a:xfrm>
          <a:prstGeom prst="rect">
            <a:avLst/>
          </a:prstGeom>
          <a:ln w="12700">
            <a:miter lim="400000"/>
          </a:ln>
        </p:spPr>
      </p:pic>
      <p:sp>
        <p:nvSpPr>
          <p:cNvPr id="402" name="Packaging de code…"/>
          <p:cNvSpPr txBox="1"/>
          <p:nvPr/>
        </p:nvSpPr>
        <p:spPr>
          <a:xfrm>
            <a:off x="1182594" y="1679342"/>
            <a:ext cx="2251433" cy="502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600"/>
            </a:pPr>
            <a:r>
              <a:t>Packaging de code</a:t>
            </a:r>
          </a:p>
          <a:p>
            <a:pPr>
              <a:defRPr i="1" sz="1200"/>
            </a:pPr>
            <a:r>
              <a:t>Mise à disposition du code en ligne</a:t>
            </a:r>
          </a:p>
        </p:txBody>
      </p:sp>
      <p:sp>
        <p:nvSpPr>
          <p:cNvPr id="403" name="Batching &amp; CronJob…"/>
          <p:cNvSpPr txBox="1"/>
          <p:nvPr/>
        </p:nvSpPr>
        <p:spPr>
          <a:xfrm>
            <a:off x="4897477" y="1679342"/>
            <a:ext cx="2673807" cy="502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600"/>
            </a:pPr>
            <a:r>
              <a:t>Batching &amp; CronJob</a:t>
            </a:r>
          </a:p>
          <a:p>
            <a:pPr>
              <a:defRPr i="1" sz="1200"/>
            </a:pPr>
            <a:r>
              <a:t>Publier une application à lancement auto.</a:t>
            </a:r>
          </a:p>
        </p:txBody>
      </p:sp>
      <p:sp>
        <p:nvSpPr>
          <p:cNvPr id="404" name="API…"/>
          <p:cNvSpPr txBox="1"/>
          <p:nvPr/>
        </p:nvSpPr>
        <p:spPr>
          <a:xfrm>
            <a:off x="8931101" y="1679342"/>
            <a:ext cx="2496032" cy="502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600"/>
            </a:pPr>
            <a:r>
              <a:t>API</a:t>
            </a:r>
          </a:p>
          <a:p>
            <a:pPr>
              <a:defRPr i="1" sz="1200"/>
            </a:pPr>
            <a:r>
              <a:t>Publier une application en temps réelle</a:t>
            </a:r>
          </a:p>
        </p:txBody>
      </p:sp>
      <p:pic>
        <p:nvPicPr>
          <p:cNvPr id="405" name="vidéo-collée.png" descr="vidéo-collée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374866" y="5462049"/>
            <a:ext cx="398145" cy="398145"/>
          </a:xfrm>
          <a:prstGeom prst="rect">
            <a:avLst/>
          </a:prstGeom>
          <a:ln w="12700">
            <a:miter lim="400000"/>
          </a:ln>
        </p:spPr>
      </p:pic>
      <p:sp>
        <p:nvSpPr>
          <p:cNvPr id="406" name="But : Utilisation et installation d’un code à la demande et à la main d’un utilisateur."/>
          <p:cNvSpPr txBox="1"/>
          <p:nvPr/>
        </p:nvSpPr>
        <p:spPr>
          <a:xfrm>
            <a:off x="847642" y="5452333"/>
            <a:ext cx="2685284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1200"/>
            </a:pPr>
            <a:r>
              <a:rPr b="1"/>
              <a:t>But</a:t>
            </a:r>
            <a:r>
              <a:t> : Utilisation et installation d’un code à la demande et à la main d’un utilisateur.</a:t>
            </a:r>
          </a:p>
        </p:txBody>
      </p:sp>
      <p:sp>
        <p:nvSpPr>
          <p:cNvPr id="407" name="Code brut livré dans un repertoire git…"/>
          <p:cNvSpPr txBox="1"/>
          <p:nvPr/>
        </p:nvSpPr>
        <p:spPr>
          <a:xfrm>
            <a:off x="571309" y="3289901"/>
            <a:ext cx="2779041" cy="1315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/>
            </a:pPr>
            <a:r>
              <a:t>Code brut livré dans un repertoire git</a:t>
            </a:r>
          </a:p>
          <a:p>
            <a:pPr>
              <a:defRPr sz="1400"/>
            </a:pPr>
            <a:r>
              <a:t>Construction d’une Wheel </a:t>
            </a:r>
          </a:p>
          <a:p>
            <a:pPr>
              <a:defRPr sz="1400"/>
            </a:pPr>
            <a:r>
              <a:t>Déploiement de la wheel en ligne : </a:t>
            </a:r>
          </a:p>
          <a:p>
            <a:pPr lvl="1" marL="561473" indent="-180473">
              <a:buSzPct val="100000"/>
              <a:buChar char="-"/>
              <a:defRPr i="1" sz="1200"/>
            </a:pPr>
            <a:r>
              <a:t>PyPI </a:t>
            </a:r>
          </a:p>
          <a:p>
            <a:pPr lvl="1" marL="561473" indent="-180473">
              <a:buSzPct val="100000"/>
              <a:buChar char="-"/>
              <a:defRPr i="1" sz="1200"/>
            </a:pPr>
            <a:r>
              <a:t>Conda Forge </a:t>
            </a:r>
          </a:p>
          <a:p>
            <a:pPr lvl="1" marL="561473" indent="-180473">
              <a:buSzPct val="100000"/>
              <a:buChar char="-"/>
              <a:defRPr i="1" sz="1200"/>
            </a:pPr>
            <a:r>
              <a:t>Artifactory interne</a:t>
            </a:r>
          </a:p>
        </p:txBody>
      </p:sp>
      <p:grpSp>
        <p:nvGrpSpPr>
          <p:cNvPr id="410" name="Grouper"/>
          <p:cNvGrpSpPr/>
          <p:nvPr/>
        </p:nvGrpSpPr>
        <p:grpSpPr>
          <a:xfrm>
            <a:off x="1041393" y="2620835"/>
            <a:ext cx="1838873" cy="398145"/>
            <a:chOff x="0" y="0"/>
            <a:chExt cx="1838871" cy="398144"/>
          </a:xfrm>
        </p:grpSpPr>
        <p:pic>
          <p:nvPicPr>
            <p:cNvPr id="408" name="vidéo-collée.png" descr="vidéo-collée.png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0" y="0"/>
              <a:ext cx="398145" cy="3981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09" name="Comment faire ?"/>
            <p:cNvSpPr txBox="1"/>
            <p:nvPr/>
          </p:nvSpPr>
          <p:spPr>
            <a:xfrm>
              <a:off x="516697" y="58672"/>
              <a:ext cx="1322175" cy="280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b="1" i="1" sz="1400"/>
              </a:lvl1pPr>
            </a:lstStyle>
            <a:p>
              <a:pPr/>
              <a:r>
                <a:t>Comment faire ?</a:t>
              </a:r>
            </a:p>
          </p:txBody>
        </p:sp>
      </p:grpSp>
      <p:grpSp>
        <p:nvGrpSpPr>
          <p:cNvPr id="413" name="Grouper"/>
          <p:cNvGrpSpPr/>
          <p:nvPr/>
        </p:nvGrpSpPr>
        <p:grpSpPr>
          <a:xfrm>
            <a:off x="4977708" y="2620835"/>
            <a:ext cx="1838873" cy="398145"/>
            <a:chOff x="0" y="0"/>
            <a:chExt cx="1838871" cy="398144"/>
          </a:xfrm>
        </p:grpSpPr>
        <p:pic>
          <p:nvPicPr>
            <p:cNvPr id="411" name="vidéo-collée.png" descr="vidéo-collée.png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0" y="0"/>
              <a:ext cx="398145" cy="3981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12" name="Comment faire ?"/>
            <p:cNvSpPr txBox="1"/>
            <p:nvPr/>
          </p:nvSpPr>
          <p:spPr>
            <a:xfrm>
              <a:off x="516697" y="58672"/>
              <a:ext cx="1322175" cy="280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b="1" i="1" sz="1400"/>
              </a:lvl1pPr>
            </a:lstStyle>
            <a:p>
              <a:pPr/>
              <a:r>
                <a:t>Comment faire ?</a:t>
              </a:r>
            </a:p>
          </p:txBody>
        </p:sp>
      </p:grpSp>
      <p:grpSp>
        <p:nvGrpSpPr>
          <p:cNvPr id="416" name="Grouper"/>
          <p:cNvGrpSpPr/>
          <p:nvPr/>
        </p:nvGrpSpPr>
        <p:grpSpPr>
          <a:xfrm>
            <a:off x="9068312" y="2620835"/>
            <a:ext cx="1838873" cy="398145"/>
            <a:chOff x="0" y="0"/>
            <a:chExt cx="1838871" cy="398144"/>
          </a:xfrm>
        </p:grpSpPr>
        <p:pic>
          <p:nvPicPr>
            <p:cNvPr id="414" name="vidéo-collée.png" descr="vidéo-collée.png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0" y="0"/>
              <a:ext cx="398145" cy="3981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15" name="Comment faire ?"/>
            <p:cNvSpPr txBox="1"/>
            <p:nvPr/>
          </p:nvSpPr>
          <p:spPr>
            <a:xfrm>
              <a:off x="516697" y="58672"/>
              <a:ext cx="1322175" cy="280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b="1" i="1" sz="1400"/>
              </a:lvl1pPr>
            </a:lstStyle>
            <a:p>
              <a:pPr/>
              <a:r>
                <a:t>Comment faire ?</a:t>
              </a:r>
            </a:p>
          </p:txBody>
        </p:sp>
      </p:grpSp>
      <p:sp>
        <p:nvSpPr>
          <p:cNvPr id="417" name="Code brut livré dans un repertoire git…"/>
          <p:cNvSpPr txBox="1"/>
          <p:nvPr/>
        </p:nvSpPr>
        <p:spPr>
          <a:xfrm>
            <a:off x="4507623" y="3297587"/>
            <a:ext cx="2779041" cy="1467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/>
            </a:pPr>
            <a:r>
              <a:t>Code brut livré dans un repertoire git</a:t>
            </a:r>
          </a:p>
          <a:p>
            <a:pPr>
              <a:defRPr sz="1400"/>
            </a:pPr>
            <a:r>
              <a:t>Encapsulation dans un outil</a:t>
            </a:r>
          </a:p>
          <a:p>
            <a:pPr lvl="1" marL="561473" indent="-180473">
              <a:buSzPct val="100000"/>
              <a:buChar char="-"/>
              <a:defRPr i="1" sz="1200"/>
            </a:pPr>
            <a:r>
              <a:t>CronJob </a:t>
            </a:r>
          </a:p>
          <a:p>
            <a:pPr lvl="1" marL="561473" indent="-180473">
              <a:buSzPct val="100000"/>
              <a:buChar char="-"/>
              <a:defRPr i="1" sz="1200"/>
            </a:pPr>
            <a:r>
              <a:t>Lambda + EventBridge sur AWS </a:t>
            </a:r>
          </a:p>
          <a:p>
            <a:pPr lvl="1" marL="561473" indent="-180473">
              <a:buSzPct val="100000"/>
              <a:buChar char="-"/>
              <a:defRPr i="1" sz="1200"/>
            </a:pPr>
            <a:r>
              <a:t>DataBricks</a:t>
            </a:r>
          </a:p>
          <a:p>
            <a:pPr lvl="1" marL="561473" indent="-180473">
              <a:buSzPct val="100000"/>
              <a:buChar char="-"/>
              <a:defRPr i="1" sz="1200"/>
            </a:pPr>
            <a:r>
              <a:t>Linux : Cron</a:t>
            </a:r>
          </a:p>
          <a:p>
            <a:pPr lvl="1" marL="561473" indent="-180473">
              <a:buSzPct val="100000"/>
              <a:buChar char="-"/>
              <a:defRPr i="1" sz="1200"/>
            </a:pPr>
            <a:r>
              <a:t>Windows : Task Scheduler</a:t>
            </a:r>
          </a:p>
        </p:txBody>
      </p:sp>
      <p:pic>
        <p:nvPicPr>
          <p:cNvPr id="418" name="vidéo-collée.png" descr="vidéo-collée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278356" y="5462049"/>
            <a:ext cx="398145" cy="398145"/>
          </a:xfrm>
          <a:prstGeom prst="rect">
            <a:avLst/>
          </a:prstGeom>
          <a:ln w="12700">
            <a:miter lim="400000"/>
          </a:ln>
        </p:spPr>
      </p:pic>
      <p:sp>
        <p:nvSpPr>
          <p:cNvPr id="419" name="But : Déploiement / installation en production, lancement automatisé chaque jour, à intervalle régulière, envoi notification succès / échec."/>
          <p:cNvSpPr txBox="1"/>
          <p:nvPr/>
        </p:nvSpPr>
        <p:spPr>
          <a:xfrm>
            <a:off x="4751131" y="5452333"/>
            <a:ext cx="2779041" cy="819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1200"/>
            </a:pPr>
            <a:r>
              <a:rPr b="1"/>
              <a:t>But</a:t>
            </a:r>
            <a:r>
              <a:t> : Déploiement / installation en production, lancement automatisé chaque jour, à intervalle régulière, envoi notification succès / échec.</a:t>
            </a:r>
          </a:p>
        </p:txBody>
      </p:sp>
      <p:sp>
        <p:nvSpPr>
          <p:cNvPr id="420" name="Code brut livré dans un repertoire git…"/>
          <p:cNvSpPr txBox="1"/>
          <p:nvPr/>
        </p:nvSpPr>
        <p:spPr>
          <a:xfrm>
            <a:off x="8598228" y="3297587"/>
            <a:ext cx="3046262" cy="1543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/>
            </a:pPr>
            <a:r>
              <a:t>Code brut livré dans un repertoire git</a:t>
            </a:r>
          </a:p>
          <a:p>
            <a:pPr>
              <a:defRPr sz="1400"/>
            </a:pPr>
            <a:r>
              <a:t>Construction d’une API</a:t>
            </a:r>
          </a:p>
          <a:p>
            <a:pPr>
              <a:defRPr sz="1400"/>
            </a:pPr>
            <a:r>
              <a:t>Encapsulation dans un conteneur Docker</a:t>
            </a:r>
          </a:p>
          <a:p>
            <a:pPr>
              <a:defRPr sz="1400"/>
            </a:pPr>
            <a:r>
              <a:t>Déploiement du docker sur un serveur</a:t>
            </a:r>
          </a:p>
          <a:p>
            <a:pPr lvl="1" marL="561473" indent="-180473">
              <a:buSzPct val="100000"/>
              <a:buChar char="-"/>
              <a:defRPr i="1" sz="1200"/>
            </a:pPr>
            <a:r>
              <a:t>ArgoCD (on premise) </a:t>
            </a:r>
          </a:p>
          <a:p>
            <a:pPr lvl="1" marL="561473" indent="-180473">
              <a:buSzPct val="100000"/>
              <a:buChar char="-"/>
              <a:defRPr i="1" sz="1200"/>
            </a:pPr>
            <a:r>
              <a:t>AWS ECS (cloud)</a:t>
            </a:r>
          </a:p>
          <a:p>
            <a:pPr lvl="1" marL="561473" indent="-180473">
              <a:buSzPct val="100000"/>
              <a:buChar char="-"/>
              <a:defRPr i="1" sz="1200"/>
            </a:pPr>
            <a:r>
              <a:t>Azure Machine Learning</a:t>
            </a:r>
          </a:p>
        </p:txBody>
      </p:sp>
      <p:pic>
        <p:nvPicPr>
          <p:cNvPr id="421" name="vidéo-collée.png" descr="vidéo-collée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181845" y="5462049"/>
            <a:ext cx="398145" cy="398145"/>
          </a:xfrm>
          <a:prstGeom prst="rect">
            <a:avLst/>
          </a:prstGeom>
          <a:ln w="12700">
            <a:miter lim="400000"/>
          </a:ln>
        </p:spPr>
      </p:pic>
      <p:sp>
        <p:nvSpPr>
          <p:cNvPr id="422" name="But : Déploiement / installation en production, application disponible pour un appel en temps réel."/>
          <p:cNvSpPr txBox="1"/>
          <p:nvPr/>
        </p:nvSpPr>
        <p:spPr>
          <a:xfrm>
            <a:off x="8654620" y="5452333"/>
            <a:ext cx="2779041" cy="629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1200"/>
            </a:pPr>
            <a:r>
              <a:rPr b="1"/>
              <a:t>But</a:t>
            </a:r>
            <a:r>
              <a:t> : Déploiement / installation en production, application disponible pour un appel en temps réel.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Espace réservé du pied de page 4"/>
          <p:cNvSpPr txBox="1"/>
          <p:nvPr/>
        </p:nvSpPr>
        <p:spPr>
          <a:xfrm>
            <a:off x="4211320" y="6502336"/>
            <a:ext cx="404452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Industrialisation IA</a:t>
            </a:r>
          </a:p>
        </p:txBody>
      </p:sp>
      <p:sp>
        <p:nvSpPr>
          <p:cNvPr id="427" name="Titr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Zoom sur le fonctionnement d’une API</a:t>
            </a:r>
          </a:p>
        </p:txBody>
      </p:sp>
      <p:sp>
        <p:nvSpPr>
          <p:cNvPr id="428" name="Espace réservé de la date 3"/>
          <p:cNvSpPr txBox="1"/>
          <p:nvPr/>
        </p:nvSpPr>
        <p:spPr>
          <a:xfrm>
            <a:off x="352637" y="6502336"/>
            <a:ext cx="27533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27.04.25</a:t>
            </a:r>
          </a:p>
        </p:txBody>
      </p:sp>
      <p:sp>
        <p:nvSpPr>
          <p:cNvPr id="429" name="Espace réservé du numéro de diapositive 5"/>
          <p:cNvSpPr txBox="1"/>
          <p:nvPr>
            <p:ph type="sldNum" sz="quarter" idx="2"/>
          </p:nvPr>
        </p:nvSpPr>
        <p:spPr>
          <a:xfrm>
            <a:off x="11600713" y="6502336"/>
            <a:ext cx="284371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30" name="Connecteur droit 2"/>
          <p:cNvSpPr/>
          <p:nvPr/>
        </p:nvSpPr>
        <p:spPr>
          <a:xfrm flipH="1">
            <a:off x="6070332" y="1815772"/>
            <a:ext cx="1" cy="432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1" name="Espace réservé du contenu 6"/>
          <p:cNvSpPr txBox="1"/>
          <p:nvPr/>
        </p:nvSpPr>
        <p:spPr>
          <a:xfrm>
            <a:off x="6795879" y="1919578"/>
            <a:ext cx="4488810" cy="8121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just" defTabSz="548640">
              <a:spcBef>
                <a:spcPts val="300"/>
              </a:spcBef>
              <a:defRPr b="1" sz="1600"/>
            </a:pPr>
            <a:r>
              <a:t>Documentation : OpenAPI (swagger)</a:t>
            </a:r>
          </a:p>
          <a:p>
            <a:pPr algn="just" defTabSz="548640">
              <a:spcBef>
                <a:spcPts val="300"/>
              </a:spcBef>
              <a:defRPr i="1" sz="1400"/>
            </a:pPr>
            <a:r>
              <a:t>Fichiers .yaml, ou .json qui décrit les façons possibles pour interagir avec un API</a:t>
            </a:r>
          </a:p>
        </p:txBody>
      </p:sp>
      <p:pic>
        <p:nvPicPr>
          <p:cNvPr id="432" name="Image 14" descr="Image 1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06520" y="2944408"/>
            <a:ext cx="4867529" cy="2802887"/>
          </a:xfrm>
          <a:prstGeom prst="rect">
            <a:avLst/>
          </a:prstGeom>
          <a:ln w="12700">
            <a:miter lim="400000"/>
          </a:ln>
        </p:spPr>
      </p:pic>
      <p:pic>
        <p:nvPicPr>
          <p:cNvPr id="433" name="vidéo-collée.png" descr="vidéo-collé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51913" y="1646146"/>
            <a:ext cx="634365" cy="634365"/>
          </a:xfrm>
          <a:prstGeom prst="rect">
            <a:avLst/>
          </a:prstGeom>
          <a:ln w="12700">
            <a:miter lim="400000"/>
          </a:ln>
        </p:spPr>
      </p:pic>
      <p:sp>
        <p:nvSpPr>
          <p:cNvPr id="434" name="Comment Interagir avec une API ?…"/>
          <p:cNvSpPr txBox="1"/>
          <p:nvPr/>
        </p:nvSpPr>
        <p:spPr>
          <a:xfrm>
            <a:off x="1182594" y="1679342"/>
            <a:ext cx="3004205" cy="502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600"/>
            </a:pPr>
            <a:r>
              <a:t>Comment Interagir avec une API ? </a:t>
            </a:r>
          </a:p>
          <a:p>
            <a:pPr>
              <a:defRPr i="1" sz="1200"/>
            </a:pPr>
            <a:r>
              <a:t>API et requêtes..</a:t>
            </a:r>
          </a:p>
        </p:txBody>
      </p:sp>
      <p:sp>
        <p:nvSpPr>
          <p:cNvPr id="435" name="Quatre types de requêtes principales :"/>
          <p:cNvSpPr txBox="1"/>
          <p:nvPr/>
        </p:nvSpPr>
        <p:spPr>
          <a:xfrm>
            <a:off x="420928" y="2686502"/>
            <a:ext cx="2892076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i="1" sz="1400"/>
            </a:lvl1pPr>
          </a:lstStyle>
          <a:p>
            <a:pPr/>
            <a:r>
              <a:t>Quatre types de requêtes principales :</a:t>
            </a:r>
          </a:p>
        </p:txBody>
      </p:sp>
      <p:sp>
        <p:nvSpPr>
          <p:cNvPr id="436" name="GET"/>
          <p:cNvSpPr txBox="1"/>
          <p:nvPr/>
        </p:nvSpPr>
        <p:spPr>
          <a:xfrm>
            <a:off x="1531918" y="3410486"/>
            <a:ext cx="515651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000"/>
            </a:lvl1pPr>
          </a:lstStyle>
          <a:p>
            <a:pPr/>
            <a:r>
              <a:t>GET</a:t>
            </a:r>
          </a:p>
        </p:txBody>
      </p:sp>
      <p:sp>
        <p:nvSpPr>
          <p:cNvPr id="437" name="POST"/>
          <p:cNvSpPr txBox="1"/>
          <p:nvPr/>
        </p:nvSpPr>
        <p:spPr>
          <a:xfrm>
            <a:off x="4118682" y="3410486"/>
            <a:ext cx="654433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000"/>
            </a:lvl1pPr>
          </a:lstStyle>
          <a:p>
            <a:pPr/>
            <a:r>
              <a:t>POST</a:t>
            </a:r>
          </a:p>
        </p:txBody>
      </p:sp>
      <p:sp>
        <p:nvSpPr>
          <p:cNvPr id="438" name="PUT"/>
          <p:cNvSpPr txBox="1"/>
          <p:nvPr/>
        </p:nvSpPr>
        <p:spPr>
          <a:xfrm>
            <a:off x="1524291" y="4829056"/>
            <a:ext cx="530905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000"/>
            </a:lvl1pPr>
          </a:lstStyle>
          <a:p>
            <a:pPr/>
            <a:r>
              <a:t>PUT</a:t>
            </a:r>
          </a:p>
        </p:txBody>
      </p:sp>
      <p:sp>
        <p:nvSpPr>
          <p:cNvPr id="439" name="DELETE"/>
          <p:cNvSpPr txBox="1"/>
          <p:nvPr/>
        </p:nvSpPr>
        <p:spPr>
          <a:xfrm>
            <a:off x="4094657" y="4810458"/>
            <a:ext cx="869117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000"/>
            </a:lvl1pPr>
          </a:lstStyle>
          <a:p>
            <a:pPr/>
            <a:r>
              <a:t>DELETE</a:t>
            </a:r>
          </a:p>
        </p:txBody>
      </p:sp>
      <p:pic>
        <p:nvPicPr>
          <p:cNvPr id="440" name="vidéo-collée.png" descr="vidéo-collé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135569" y="3373292"/>
            <a:ext cx="377377" cy="377377"/>
          </a:xfrm>
          <a:prstGeom prst="rect">
            <a:avLst/>
          </a:prstGeom>
          <a:ln w="12700">
            <a:miter lim="400000"/>
          </a:ln>
        </p:spPr>
      </p:pic>
      <p:pic>
        <p:nvPicPr>
          <p:cNvPr id="441" name="vidéo-collée.png" descr="vidéo-collé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698965" y="3373292"/>
            <a:ext cx="377377" cy="377377"/>
          </a:xfrm>
          <a:prstGeom prst="rect">
            <a:avLst/>
          </a:prstGeom>
          <a:ln w="12700">
            <a:miter lim="400000"/>
          </a:ln>
        </p:spPr>
      </p:pic>
      <p:pic>
        <p:nvPicPr>
          <p:cNvPr id="442" name="vidéo-collée.png" descr="vidéo-collé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135569" y="4791861"/>
            <a:ext cx="377377" cy="377377"/>
          </a:xfrm>
          <a:prstGeom prst="rect">
            <a:avLst/>
          </a:prstGeom>
          <a:ln w="12700">
            <a:miter lim="400000"/>
          </a:ln>
        </p:spPr>
      </p:pic>
      <p:pic>
        <p:nvPicPr>
          <p:cNvPr id="443" name="vidéo-collée.png" descr="vidéo-collé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698965" y="4773264"/>
            <a:ext cx="377377" cy="377377"/>
          </a:xfrm>
          <a:prstGeom prst="rect">
            <a:avLst/>
          </a:prstGeom>
          <a:ln w="12700">
            <a:miter lim="400000"/>
          </a:ln>
        </p:spPr>
      </p:pic>
      <p:sp>
        <p:nvSpPr>
          <p:cNvPr id="444" name="Sert à récupérer des informations directement"/>
          <p:cNvSpPr txBox="1"/>
          <p:nvPr/>
        </p:nvSpPr>
        <p:spPr>
          <a:xfrm>
            <a:off x="782351" y="3775179"/>
            <a:ext cx="2014785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1200"/>
            </a:lvl1pPr>
          </a:lstStyle>
          <a:p>
            <a:pPr/>
            <a:r>
              <a:t>Sert à récupérer des informations directement</a:t>
            </a:r>
          </a:p>
        </p:txBody>
      </p:sp>
      <p:sp>
        <p:nvSpPr>
          <p:cNvPr id="445" name="Sert à envoyer une information (sensible) à l’application"/>
          <p:cNvSpPr txBox="1"/>
          <p:nvPr/>
        </p:nvSpPr>
        <p:spPr>
          <a:xfrm>
            <a:off x="3438506" y="3775179"/>
            <a:ext cx="2014785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1200"/>
            </a:lvl1pPr>
          </a:lstStyle>
          <a:p>
            <a:pPr/>
            <a:r>
              <a:t>Sert à envoyer une information (sensible) à l’application</a:t>
            </a:r>
          </a:p>
        </p:txBody>
      </p:sp>
      <p:sp>
        <p:nvSpPr>
          <p:cNvPr id="446" name="Enregistrer une donnée dans une BDD ou la mettre à jour"/>
          <p:cNvSpPr txBox="1"/>
          <p:nvPr/>
        </p:nvSpPr>
        <p:spPr>
          <a:xfrm>
            <a:off x="782351" y="5228933"/>
            <a:ext cx="2014785" cy="43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1200"/>
            </a:lvl1pPr>
          </a:lstStyle>
          <a:p>
            <a:pPr/>
            <a:r>
              <a:t>Enregistrer une donnée dans une BDD ou la mettre à jour</a:t>
            </a:r>
          </a:p>
        </p:txBody>
      </p:sp>
      <p:sp>
        <p:nvSpPr>
          <p:cNvPr id="447" name="Supprimer une donnée dans une base de données"/>
          <p:cNvSpPr txBox="1"/>
          <p:nvPr/>
        </p:nvSpPr>
        <p:spPr>
          <a:xfrm>
            <a:off x="3438506" y="5228933"/>
            <a:ext cx="2014785" cy="43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1200"/>
            </a:lvl1pPr>
          </a:lstStyle>
          <a:p>
            <a:pPr/>
            <a:r>
              <a:t>Supprimer une donnée dans une base de données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Espace réservé du pied de page 4"/>
          <p:cNvSpPr txBox="1"/>
          <p:nvPr/>
        </p:nvSpPr>
        <p:spPr>
          <a:xfrm>
            <a:off x="4211320" y="6502336"/>
            <a:ext cx="404452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Industrialisation IA</a:t>
            </a:r>
          </a:p>
        </p:txBody>
      </p:sp>
      <p:sp>
        <p:nvSpPr>
          <p:cNvPr id="452" name="Titr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Les APIs</a:t>
            </a:r>
          </a:p>
        </p:txBody>
      </p:sp>
      <p:sp>
        <p:nvSpPr>
          <p:cNvPr id="453" name="Espace réservé du contenu 6"/>
          <p:cNvSpPr txBox="1"/>
          <p:nvPr>
            <p:ph type="body" sz="quarter" idx="1"/>
          </p:nvPr>
        </p:nvSpPr>
        <p:spPr>
          <a:xfrm>
            <a:off x="6129402" y="1844419"/>
            <a:ext cx="5490245" cy="2726107"/>
          </a:xfrm>
          <a:prstGeom prst="rect">
            <a:avLst/>
          </a:prstGeom>
        </p:spPr>
        <p:txBody>
          <a:bodyPr anchor="ctr"/>
          <a:lstStyle/>
          <a:p>
            <a:pPr algn="just" defTabSz="543153">
              <a:defRPr b="1" sz="1584"/>
            </a:pPr>
            <a:r>
              <a:t>Asynchrone = traitement non-blocking (+streaming)</a:t>
            </a:r>
          </a:p>
          <a:p>
            <a:pPr algn="just" defTabSz="543153">
              <a:defRPr b="1" sz="1584"/>
            </a:pPr>
            <a:r>
              <a:t>Cas d’usage: Virement « instantané » en 10 secondes (confirmation qu’il est en cours de traitement)</a:t>
            </a:r>
          </a:p>
          <a:p>
            <a:pPr marL="282892" indent="-282892" algn="just" defTabSz="543153">
              <a:buSzPct val="100000"/>
              <a:buChar char="à"/>
              <a:defRPr b="1" sz="1584"/>
            </a:pPr>
            <a:r>
              <a:t>Utilisation pour les temps de traitement long</a:t>
            </a:r>
          </a:p>
          <a:p>
            <a:pPr algn="just" defTabSz="543153">
              <a:defRPr b="1" sz="1584"/>
            </a:pPr>
            <a:r>
              <a:t>Intérêt: Traitement de plusieurs traitements différents concurrement, optimisation de l’utilisation des CPU/GPU/écriture disque/téléchargement</a:t>
            </a:r>
          </a:p>
          <a:p>
            <a:pPr algn="just" defTabSz="543153">
              <a:defRPr b="1" sz="1584"/>
            </a:pPr>
            <a:r>
              <a:t>Fonctionnement : reception requête ; renvoie bon de réception ; traitement de la requête ; écriture de la réponse dans une bdd</a:t>
            </a:r>
          </a:p>
        </p:txBody>
      </p:sp>
      <p:sp>
        <p:nvSpPr>
          <p:cNvPr id="454" name="Espace réservé de la date 3"/>
          <p:cNvSpPr txBox="1"/>
          <p:nvPr/>
        </p:nvSpPr>
        <p:spPr>
          <a:xfrm>
            <a:off x="352637" y="6502336"/>
            <a:ext cx="27533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27.04.25</a:t>
            </a:r>
          </a:p>
        </p:txBody>
      </p:sp>
      <p:sp>
        <p:nvSpPr>
          <p:cNvPr id="455" name="Espace réservé du numéro de diapositive 5"/>
          <p:cNvSpPr txBox="1"/>
          <p:nvPr>
            <p:ph type="sldNum" sz="quarter" idx="2"/>
          </p:nvPr>
        </p:nvSpPr>
        <p:spPr>
          <a:xfrm>
            <a:off x="11688658" y="6502336"/>
            <a:ext cx="196426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56" name="Connecteur droit 4"/>
          <p:cNvSpPr/>
          <p:nvPr/>
        </p:nvSpPr>
        <p:spPr>
          <a:xfrm flipH="1">
            <a:off x="5880732" y="1578642"/>
            <a:ext cx="1" cy="432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7" name="Espace réservé du contenu 6"/>
          <p:cNvSpPr txBox="1"/>
          <p:nvPr/>
        </p:nvSpPr>
        <p:spPr>
          <a:xfrm>
            <a:off x="372132" y="1375598"/>
            <a:ext cx="4911443" cy="20684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just" defTabSz="548640">
              <a:spcBef>
                <a:spcPts val="300"/>
              </a:spcBef>
              <a:defRPr b="1" sz="1600"/>
            </a:pPr>
            <a:r>
              <a:t>Synchrone = traitement Blocking</a:t>
            </a:r>
          </a:p>
          <a:p>
            <a:pPr algn="just" defTabSz="548640">
              <a:spcBef>
                <a:spcPts val="300"/>
              </a:spcBef>
              <a:defRPr b="1" sz="1600"/>
            </a:pPr>
            <a:r>
              <a:t>Intérêt: </a:t>
            </a:r>
          </a:p>
          <a:p>
            <a:pPr algn="just" defTabSz="548640">
              <a:spcBef>
                <a:spcPts val="300"/>
              </a:spcBef>
              <a:defRPr b="1" sz="1600"/>
            </a:pPr>
            <a:r>
              <a:t>Réponse instantanément : </a:t>
            </a:r>
          </a:p>
          <a:p>
            <a:pPr algn="just" defTabSz="548640">
              <a:spcBef>
                <a:spcPts val="300"/>
              </a:spcBef>
              <a:defRPr b="1" sz="1600"/>
            </a:pPr>
            <a:r>
              <a:t>Cas d’usage : requête chatGPT (stre</a:t>
            </a:r>
          </a:p>
          <a:p>
            <a:pPr algn="just" defTabSz="548640">
              <a:spcBef>
                <a:spcPts val="300"/>
              </a:spcBef>
              <a:defRPr b="1" sz="1600"/>
            </a:pPr>
            <a:r>
              <a:t>Fonctionnement: reception requête, traitement de la requête ; renvoie de la réponse du traitement</a:t>
            </a:r>
          </a:p>
          <a:p>
            <a:pPr algn="just" defTabSz="548640">
              <a:spcBef>
                <a:spcPts val="300"/>
              </a:spcBef>
              <a:defRPr b="1" sz="1600"/>
            </a:pPr>
            <a:r>
              <a:t>Intérêt: simple, intuitif à implémenter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Espace réservé du pied de page 4"/>
          <p:cNvSpPr txBox="1"/>
          <p:nvPr/>
        </p:nvSpPr>
        <p:spPr>
          <a:xfrm>
            <a:off x="4211320" y="6502336"/>
            <a:ext cx="404452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Industrialisation IA</a:t>
            </a:r>
          </a:p>
        </p:txBody>
      </p:sp>
      <p:sp>
        <p:nvSpPr>
          <p:cNvPr id="462" name="Espace réservé de la date 3"/>
          <p:cNvSpPr txBox="1"/>
          <p:nvPr/>
        </p:nvSpPr>
        <p:spPr>
          <a:xfrm>
            <a:off x="352637" y="6502336"/>
            <a:ext cx="27533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27.04.25</a:t>
            </a:r>
          </a:p>
        </p:txBody>
      </p:sp>
      <p:sp>
        <p:nvSpPr>
          <p:cNvPr id="463" name="Espace réservé du numéro de diapositive 5"/>
          <p:cNvSpPr txBox="1"/>
          <p:nvPr>
            <p:ph type="sldNum" sz="quarter" idx="2"/>
          </p:nvPr>
        </p:nvSpPr>
        <p:spPr>
          <a:xfrm>
            <a:off x="11600713" y="6502336"/>
            <a:ext cx="284371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466" name="Espace réservé du contenu 2"/>
          <p:cNvGrpSpPr/>
          <p:nvPr/>
        </p:nvGrpSpPr>
        <p:grpSpPr>
          <a:xfrm>
            <a:off x="1017269" y="1600200"/>
            <a:ext cx="10149842" cy="4320000"/>
            <a:chOff x="0" y="0"/>
            <a:chExt cx="10149840" cy="4319999"/>
          </a:xfrm>
        </p:grpSpPr>
        <p:sp>
          <p:nvSpPr>
            <p:cNvPr id="464" name="Rectangle"/>
            <p:cNvSpPr/>
            <p:nvPr/>
          </p:nvSpPr>
          <p:spPr>
            <a:xfrm>
              <a:off x="-1" y="0"/>
              <a:ext cx="10149842" cy="4320000"/>
            </a:xfrm>
            <a:prstGeom prst="rect">
              <a:avLst/>
            </a:prstGeom>
            <a:solidFill>
              <a:srgbClr val="E2F6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spcBef>
                  <a:spcPts val="300"/>
                </a:spcBef>
                <a:defRPr sz="14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</a:p>
          </p:txBody>
        </p:sp>
        <p:sp>
          <p:nvSpPr>
            <p:cNvPr id="465" name="Comment livrer un logiciel"/>
            <p:cNvSpPr txBox="1"/>
            <p:nvPr/>
          </p:nvSpPr>
          <p:spPr>
            <a:xfrm>
              <a:off x="54863" y="0"/>
              <a:ext cx="10040113" cy="4320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4864" tIns="54864" rIns="54864" bIns="54864" numCol="1" anchor="ctr">
              <a:normAutofit fontScale="100000" lnSpcReduction="0"/>
            </a:bodyPr>
            <a:lstStyle>
              <a:lvl1pPr algn="ctr" defTabSz="457200">
                <a:spcBef>
                  <a:spcPts val="1000"/>
                </a:spcBef>
                <a:defRPr b="1" sz="4300"/>
              </a:lvl1pPr>
            </a:lstStyle>
            <a:p>
              <a:pPr/>
              <a:r>
                <a:t>Comment livrer un logiciel 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Espace réservé du pied de page 4"/>
          <p:cNvSpPr txBox="1"/>
          <p:nvPr/>
        </p:nvSpPr>
        <p:spPr>
          <a:xfrm>
            <a:off x="4211320" y="6502336"/>
            <a:ext cx="404452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Industrialisation IA</a:t>
            </a:r>
          </a:p>
        </p:txBody>
      </p:sp>
      <p:sp>
        <p:nvSpPr>
          <p:cNvPr id="469" name="Titr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 code fonctionne sur mon ordinateur mais pas en production que faire ?</a:t>
            </a:r>
          </a:p>
        </p:txBody>
      </p:sp>
      <p:sp>
        <p:nvSpPr>
          <p:cNvPr id="470" name="Espace réservé de la date 3"/>
          <p:cNvSpPr txBox="1"/>
          <p:nvPr/>
        </p:nvSpPr>
        <p:spPr>
          <a:xfrm>
            <a:off x="352637" y="6502336"/>
            <a:ext cx="27533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27.04.25</a:t>
            </a:r>
          </a:p>
        </p:txBody>
      </p:sp>
      <p:sp>
        <p:nvSpPr>
          <p:cNvPr id="471" name="Espace réservé du numéro de diapositive 5"/>
          <p:cNvSpPr txBox="1"/>
          <p:nvPr>
            <p:ph type="sldNum" sz="quarter" idx="2"/>
          </p:nvPr>
        </p:nvSpPr>
        <p:spPr>
          <a:xfrm>
            <a:off x="11600713" y="6502336"/>
            <a:ext cx="284371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472" name="Espace réservé du contenu 9" descr="Espace réservé du contenu 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37187" y="1697843"/>
            <a:ext cx="7656826" cy="4117023"/>
          </a:xfrm>
          <a:prstGeom prst="rect">
            <a:avLst/>
          </a:prstGeom>
          <a:ln w="12700">
            <a:miter lim="400000"/>
          </a:ln>
        </p:spPr>
      </p:pic>
      <p:sp>
        <p:nvSpPr>
          <p:cNvPr id="473" name="Commande : docker build…"/>
          <p:cNvSpPr txBox="1"/>
          <p:nvPr/>
        </p:nvSpPr>
        <p:spPr>
          <a:xfrm>
            <a:off x="8141603" y="3692578"/>
            <a:ext cx="3538854" cy="667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400"/>
            </a:pPr>
            <a:r>
              <a:t>Commande : docker build</a:t>
            </a:r>
          </a:p>
          <a:p>
            <a:pPr>
              <a:defRPr i="1" sz="1200"/>
            </a:pPr>
            <a:r>
              <a:t>Peut être une image stockée en local ou dans un repertoire en ligne : artifactory, Docker Hub, AWS ECR.</a:t>
            </a:r>
          </a:p>
        </p:txBody>
      </p:sp>
      <p:sp>
        <p:nvSpPr>
          <p:cNvPr id="474" name="Commande : docker run…"/>
          <p:cNvSpPr txBox="1"/>
          <p:nvPr/>
        </p:nvSpPr>
        <p:spPr>
          <a:xfrm>
            <a:off x="8141603" y="4902694"/>
            <a:ext cx="3538854" cy="667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400"/>
            </a:pPr>
            <a:r>
              <a:t>Commande : docker run</a:t>
            </a:r>
          </a:p>
          <a:p>
            <a:pPr>
              <a:defRPr i="1" sz="1200"/>
            </a:pPr>
            <a:r>
              <a:t>Peut s’utiliser en local ou sur un serveur avec Kubernetes</a:t>
            </a:r>
          </a:p>
        </p:txBody>
      </p:sp>
      <p:sp>
        <p:nvSpPr>
          <p:cNvPr id="475" name="Commande : pas de commande…"/>
          <p:cNvSpPr txBox="1"/>
          <p:nvPr/>
        </p:nvSpPr>
        <p:spPr>
          <a:xfrm>
            <a:off x="8141603" y="2482462"/>
            <a:ext cx="3538854" cy="476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400"/>
            </a:pPr>
            <a:r>
              <a:t>Commande : pas de commande</a:t>
            </a:r>
          </a:p>
          <a:p>
            <a:pPr>
              <a:defRPr i="1" sz="1200"/>
            </a:pPr>
            <a:r>
              <a:t>Il faut juste rédiger un DockerFile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Espace réservé du pied de page 4"/>
          <p:cNvSpPr txBox="1"/>
          <p:nvPr/>
        </p:nvSpPr>
        <p:spPr>
          <a:xfrm>
            <a:off x="4211320" y="6502336"/>
            <a:ext cx="404452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Industrialisation IA</a:t>
            </a:r>
          </a:p>
        </p:txBody>
      </p:sp>
      <p:sp>
        <p:nvSpPr>
          <p:cNvPr id="480" name="Titre 1"/>
          <p:cNvSpPr txBox="1"/>
          <p:nvPr>
            <p:ph type="title"/>
          </p:nvPr>
        </p:nvSpPr>
        <p:spPr>
          <a:xfrm>
            <a:off x="-59267" y="188595"/>
            <a:ext cx="11641667" cy="634365"/>
          </a:xfrm>
          <a:prstGeom prst="rect">
            <a:avLst/>
          </a:prstGeom>
        </p:spPr>
        <p:txBody>
          <a:bodyPr/>
          <a:lstStyle/>
          <a:p>
            <a:pPr/>
            <a:r>
              <a:t>J’ai 500M d’utilisateurs de plus ce matin, ça passe non ?</a:t>
            </a:r>
          </a:p>
        </p:txBody>
      </p:sp>
      <p:sp>
        <p:nvSpPr>
          <p:cNvPr id="481" name="Espace réservé de la date 3"/>
          <p:cNvSpPr txBox="1"/>
          <p:nvPr/>
        </p:nvSpPr>
        <p:spPr>
          <a:xfrm>
            <a:off x="352637" y="6502336"/>
            <a:ext cx="27533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27.04.25</a:t>
            </a:r>
          </a:p>
        </p:txBody>
      </p:sp>
      <p:sp>
        <p:nvSpPr>
          <p:cNvPr id="482" name="Espace réservé du numéro de diapositive 5"/>
          <p:cNvSpPr txBox="1"/>
          <p:nvPr>
            <p:ph type="sldNum" sz="quarter" idx="2"/>
          </p:nvPr>
        </p:nvSpPr>
        <p:spPr>
          <a:xfrm>
            <a:off x="11600713" y="6502336"/>
            <a:ext cx="284371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483" name="Image 9" descr="Image 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135879" y="1684249"/>
            <a:ext cx="6634482" cy="4523511"/>
          </a:xfrm>
          <a:prstGeom prst="rect">
            <a:avLst/>
          </a:prstGeom>
          <a:ln w="12700">
            <a:miter lim="400000"/>
          </a:ln>
        </p:spPr>
      </p:pic>
      <p:sp>
        <p:nvSpPr>
          <p:cNvPr id="484" name="Connecteur droit 10"/>
          <p:cNvSpPr/>
          <p:nvPr/>
        </p:nvSpPr>
        <p:spPr>
          <a:xfrm flipH="1">
            <a:off x="5088252" y="1578642"/>
            <a:ext cx="1" cy="432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485" name="vidéo-collée.png" descr="vidéo-collé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17468" y="3318084"/>
            <a:ext cx="476906" cy="476906"/>
          </a:xfrm>
          <a:prstGeom prst="rect">
            <a:avLst/>
          </a:prstGeom>
          <a:ln w="12700">
            <a:miter lim="400000"/>
          </a:ln>
        </p:spPr>
      </p:pic>
      <p:sp>
        <p:nvSpPr>
          <p:cNvPr id="486" name="Grouper"/>
          <p:cNvSpPr/>
          <p:nvPr/>
        </p:nvSpPr>
        <p:spPr>
          <a:xfrm>
            <a:off x="1148379" y="3318084"/>
            <a:ext cx="1270001" cy="1270001"/>
          </a:xfrm>
          <a:prstGeom prst="line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/>
            </a:pPr>
            <a:r>
              <a:t>Redémarrer l’application si échec</a:t>
            </a:r>
          </a:p>
          <a:p>
            <a:pPr>
              <a:defRPr i="1" sz="1200"/>
            </a:pPr>
            <a:r>
              <a:t>Cela permet de maintenir une application fonctionnelle</a:t>
            </a:r>
          </a:p>
        </p:txBody>
      </p:sp>
      <p:sp>
        <p:nvSpPr>
          <p:cNvPr id="487" name="Grouper"/>
          <p:cNvSpPr/>
          <p:nvPr/>
        </p:nvSpPr>
        <p:spPr>
          <a:xfrm>
            <a:off x="634668" y="1739061"/>
            <a:ext cx="1270001" cy="1270001"/>
          </a:xfrm>
          <a:prstGeom prst="line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i="1" sz="1400"/>
            </a:lvl1pPr>
          </a:lstStyle>
          <a:p>
            <a:pPr/>
            <a:r>
              <a:t>Points Critiques à surveiller :</a:t>
            </a:r>
          </a:p>
        </p:txBody>
      </p:sp>
      <p:pic>
        <p:nvPicPr>
          <p:cNvPr id="488" name="ChatGPT Image 29 avr. 2025, 20_49_50.png" descr="ChatGPT Image 29 avr. 2025, 20_49_50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17468" y="2280542"/>
            <a:ext cx="476906" cy="476906"/>
          </a:xfrm>
          <a:prstGeom prst="rect">
            <a:avLst/>
          </a:prstGeom>
          <a:ln w="12700">
            <a:miter lim="400000"/>
          </a:ln>
        </p:spPr>
      </p:pic>
      <p:sp>
        <p:nvSpPr>
          <p:cNvPr id="489" name="Grouper"/>
          <p:cNvSpPr/>
          <p:nvPr/>
        </p:nvSpPr>
        <p:spPr>
          <a:xfrm>
            <a:off x="1155970" y="2280542"/>
            <a:ext cx="1270001" cy="1270001"/>
          </a:xfrm>
          <a:prstGeom prst="line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/>
            </a:pPr>
            <a:r>
              <a:t>Gestion de la charge de l’application</a:t>
            </a:r>
          </a:p>
          <a:p>
            <a:pPr>
              <a:defRPr i="1" sz="1200"/>
            </a:pPr>
            <a:r>
              <a:t>Comment gérer un afflux d’utilisateurs ?</a:t>
            </a:r>
          </a:p>
        </p:txBody>
      </p:sp>
      <p:pic>
        <p:nvPicPr>
          <p:cNvPr id="490" name="vidéo-collée.png" descr="vidéo-collée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17468" y="4355625"/>
            <a:ext cx="476906" cy="476906"/>
          </a:xfrm>
          <a:prstGeom prst="rect">
            <a:avLst/>
          </a:prstGeom>
          <a:ln w="12700">
            <a:miter lim="400000"/>
          </a:ln>
        </p:spPr>
      </p:pic>
      <p:sp>
        <p:nvSpPr>
          <p:cNvPr id="491" name="Grouper"/>
          <p:cNvSpPr/>
          <p:nvPr/>
        </p:nvSpPr>
        <p:spPr>
          <a:xfrm>
            <a:off x="1128197" y="4355625"/>
            <a:ext cx="1270001" cy="1270001"/>
          </a:xfrm>
          <a:prstGeom prst="line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/>
            </a:pPr>
            <a:r>
              <a:t>Gérer les mises à jour</a:t>
            </a:r>
          </a:p>
          <a:p>
            <a:pPr>
              <a:defRPr i="1" sz="1200"/>
            </a:pPr>
            <a:r>
              <a:t>Comment mettre à jour une application sans tout couper ? </a:t>
            </a:r>
          </a:p>
        </p:txBody>
      </p:sp>
      <p:pic>
        <p:nvPicPr>
          <p:cNvPr id="492" name="vidéo-collée.png" descr="vidéo-collée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17468" y="5393744"/>
            <a:ext cx="476906" cy="476906"/>
          </a:xfrm>
          <a:prstGeom prst="rect">
            <a:avLst/>
          </a:prstGeom>
          <a:ln w="12700">
            <a:miter lim="400000"/>
          </a:ln>
        </p:spPr>
      </p:pic>
      <p:sp>
        <p:nvSpPr>
          <p:cNvPr id="493" name="Grouper"/>
          <p:cNvSpPr/>
          <p:nvPr/>
        </p:nvSpPr>
        <p:spPr>
          <a:xfrm>
            <a:off x="1155970" y="5393744"/>
            <a:ext cx="1270001" cy="1270001"/>
          </a:xfrm>
          <a:prstGeom prst="line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/>
            </a:pPr>
            <a:r>
              <a:t>Tester mon application</a:t>
            </a:r>
          </a:p>
          <a:p>
            <a:pPr>
              <a:defRPr i="1" sz="1200"/>
            </a:pPr>
            <a:r>
              <a:t>Comment s’assurer que mon application soit correcte 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Espace réservé du pied de page 4"/>
          <p:cNvSpPr txBox="1"/>
          <p:nvPr/>
        </p:nvSpPr>
        <p:spPr>
          <a:xfrm>
            <a:off x="4211320" y="6502336"/>
            <a:ext cx="404452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Industrialisation IA</a:t>
            </a:r>
          </a:p>
        </p:txBody>
      </p:sp>
      <p:sp>
        <p:nvSpPr>
          <p:cNvPr id="498" name="Titr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Intégration Continue : CI</a:t>
            </a:r>
          </a:p>
        </p:txBody>
      </p:sp>
      <p:sp>
        <p:nvSpPr>
          <p:cNvPr id="499" name="Espace réservé de la date 3"/>
          <p:cNvSpPr txBox="1"/>
          <p:nvPr/>
        </p:nvSpPr>
        <p:spPr>
          <a:xfrm>
            <a:off x="352637" y="6502336"/>
            <a:ext cx="27533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27.04.25</a:t>
            </a:r>
          </a:p>
        </p:txBody>
      </p:sp>
      <p:sp>
        <p:nvSpPr>
          <p:cNvPr id="500" name="Espace réservé du numéro de diapositive 5"/>
          <p:cNvSpPr txBox="1"/>
          <p:nvPr>
            <p:ph type="sldNum" sz="quarter" idx="2"/>
          </p:nvPr>
        </p:nvSpPr>
        <p:spPr>
          <a:xfrm>
            <a:off x="11600713" y="6502336"/>
            <a:ext cx="284371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01" name="Connecteur droit 4"/>
          <p:cNvSpPr/>
          <p:nvPr/>
        </p:nvSpPr>
        <p:spPr>
          <a:xfrm flipH="1">
            <a:off x="3814812" y="2280939"/>
            <a:ext cx="1" cy="3712594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2" name="Connecteur droit 8"/>
          <p:cNvSpPr/>
          <p:nvPr/>
        </p:nvSpPr>
        <p:spPr>
          <a:xfrm>
            <a:off x="7942446" y="2280939"/>
            <a:ext cx="1" cy="3712594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503" name="vidéo-collée.png" descr="vidéo-collé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4498" y="1539878"/>
            <a:ext cx="476906" cy="476906"/>
          </a:xfrm>
          <a:prstGeom prst="rect">
            <a:avLst/>
          </a:prstGeom>
          <a:ln w="12700">
            <a:miter lim="400000"/>
          </a:ln>
        </p:spPr>
      </p:pic>
      <p:sp>
        <p:nvSpPr>
          <p:cNvPr id="504" name="Grouper"/>
          <p:cNvSpPr/>
          <p:nvPr/>
        </p:nvSpPr>
        <p:spPr>
          <a:xfrm>
            <a:off x="1202257" y="1510931"/>
            <a:ext cx="1270001" cy="1270001"/>
          </a:xfrm>
          <a:prstGeom prst="line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600"/>
            </a:pPr>
            <a:r>
              <a:t>Intégration continue</a:t>
            </a:r>
          </a:p>
          <a:p>
            <a:pPr>
              <a:defRPr i="1" sz="1400"/>
            </a:pPr>
            <a:r>
              <a:t>Comment intégrer efficacement des modifications dans une application de production ? </a:t>
            </a:r>
          </a:p>
        </p:txBody>
      </p:sp>
      <p:pic>
        <p:nvPicPr>
          <p:cNvPr id="505" name="vidéo-collée.png" descr="vidéo-collé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74866" y="5462049"/>
            <a:ext cx="398145" cy="398145"/>
          </a:xfrm>
          <a:prstGeom prst="rect">
            <a:avLst/>
          </a:prstGeom>
          <a:ln w="12700">
            <a:miter lim="400000"/>
          </a:ln>
        </p:spPr>
      </p:pic>
      <p:sp>
        <p:nvSpPr>
          <p:cNvPr id="506" name="But : S’assurer que le code de l’application sera compris par tous."/>
          <p:cNvSpPr txBox="1"/>
          <p:nvPr/>
        </p:nvSpPr>
        <p:spPr>
          <a:xfrm>
            <a:off x="847642" y="5452333"/>
            <a:ext cx="2685284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1200"/>
            </a:pPr>
            <a:r>
              <a:rPr b="1"/>
              <a:t>But</a:t>
            </a:r>
            <a:r>
              <a:t> : S’assurer que le code de l’application sera compris par tous.</a:t>
            </a:r>
          </a:p>
        </p:txBody>
      </p:sp>
      <p:pic>
        <p:nvPicPr>
          <p:cNvPr id="507" name="vidéo-collée.png" descr="vidéo-collé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30908" y="2848001"/>
            <a:ext cx="398145" cy="398145"/>
          </a:xfrm>
          <a:prstGeom prst="rect">
            <a:avLst/>
          </a:prstGeom>
          <a:ln w="12700">
            <a:miter lim="400000"/>
          </a:ln>
        </p:spPr>
      </p:pic>
      <p:sp>
        <p:nvSpPr>
          <p:cNvPr id="508" name="Grouper"/>
          <p:cNvSpPr/>
          <p:nvPr/>
        </p:nvSpPr>
        <p:spPr>
          <a:xfrm>
            <a:off x="1172348" y="2906673"/>
            <a:ext cx="1270001" cy="1270001"/>
          </a:xfrm>
          <a:prstGeom prst="line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400"/>
            </a:lvl1pPr>
          </a:lstStyle>
          <a:p>
            <a:pPr/>
            <a:r>
              <a:t>Solutions Open Source</a:t>
            </a:r>
          </a:p>
        </p:txBody>
      </p:sp>
      <p:sp>
        <p:nvSpPr>
          <p:cNvPr id="509" name="Flake8 : Formateur de code…"/>
          <p:cNvSpPr txBox="1"/>
          <p:nvPr/>
        </p:nvSpPr>
        <p:spPr>
          <a:xfrm>
            <a:off x="891624" y="3366003"/>
            <a:ext cx="2332118" cy="1010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180473" indent="-180473">
              <a:buSzPct val="100000"/>
              <a:buChar char="-"/>
              <a:defRPr i="1" sz="1200"/>
            </a:pPr>
            <a:r>
              <a:t>Flake8 : Formateur de code</a:t>
            </a:r>
          </a:p>
          <a:p>
            <a:pPr marL="180473" indent="-180473">
              <a:buSzPct val="100000"/>
              <a:buChar char="-"/>
              <a:defRPr i="1" sz="1200"/>
            </a:pPr>
            <a:r>
              <a:t>Black : Formateur de code</a:t>
            </a:r>
          </a:p>
          <a:p>
            <a:pPr marL="180473" indent="-180473">
              <a:buSzPct val="100000"/>
              <a:buChar char="-"/>
              <a:defRPr i="1" sz="1200"/>
            </a:pPr>
            <a:r>
              <a:t>Ruff : Formateur de code (rapide)</a:t>
            </a:r>
          </a:p>
          <a:p>
            <a:pPr marL="180473" indent="-180473">
              <a:buSzPct val="100000"/>
              <a:buChar char="-"/>
              <a:defRPr i="1" sz="1200"/>
            </a:pPr>
            <a:r>
              <a:t>PyLint : Formateur de code</a:t>
            </a:r>
          </a:p>
          <a:p>
            <a:pPr marL="180473" indent="-180473">
              <a:buSzPct val="100000"/>
              <a:buChar char="-"/>
              <a:defRPr i="1" sz="1200"/>
            </a:pPr>
            <a:r>
              <a:t>Isort : Formateur des imports</a:t>
            </a:r>
          </a:p>
        </p:txBody>
      </p:sp>
      <p:pic>
        <p:nvPicPr>
          <p:cNvPr id="510" name="vidéo-collée.png" descr="vidéo-collée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086602" y="4502027"/>
            <a:ext cx="1942162" cy="776865"/>
          </a:xfrm>
          <a:prstGeom prst="rect">
            <a:avLst/>
          </a:prstGeom>
          <a:ln w="12700">
            <a:miter lim="400000"/>
          </a:ln>
        </p:spPr>
      </p:pic>
      <p:sp>
        <p:nvSpPr>
          <p:cNvPr id="511" name="Grouper"/>
          <p:cNvSpPr/>
          <p:nvPr/>
        </p:nvSpPr>
        <p:spPr>
          <a:xfrm>
            <a:off x="666110" y="2280939"/>
            <a:ext cx="1270001" cy="1270001"/>
          </a:xfrm>
          <a:prstGeom prst="line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/>
            </a:lvl1pPr>
          </a:lstStyle>
          <a:p>
            <a:pPr/>
            <a:r>
              <a:t>Evaluation de la qualité de code</a:t>
            </a:r>
          </a:p>
        </p:txBody>
      </p:sp>
      <p:sp>
        <p:nvSpPr>
          <p:cNvPr id="512" name="Grouper"/>
          <p:cNvSpPr/>
          <p:nvPr/>
        </p:nvSpPr>
        <p:spPr>
          <a:xfrm>
            <a:off x="5225789" y="2280939"/>
            <a:ext cx="1270001" cy="1270001"/>
          </a:xfrm>
          <a:prstGeom prst="line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/>
            </a:lvl1pPr>
          </a:lstStyle>
          <a:p>
            <a:pPr/>
            <a:r>
              <a:t>Tests unitaires</a:t>
            </a:r>
          </a:p>
        </p:txBody>
      </p:sp>
      <p:sp>
        <p:nvSpPr>
          <p:cNvPr id="513" name="Grouper"/>
          <p:cNvSpPr/>
          <p:nvPr/>
        </p:nvSpPr>
        <p:spPr>
          <a:xfrm>
            <a:off x="8772920" y="2280939"/>
            <a:ext cx="1270001" cy="1270001"/>
          </a:xfrm>
          <a:prstGeom prst="line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/>
            </a:lvl1pPr>
          </a:lstStyle>
          <a:p>
            <a:pPr/>
            <a:r>
              <a:t>Construction des artefacts</a:t>
            </a:r>
          </a:p>
        </p:txBody>
      </p:sp>
      <p:pic>
        <p:nvPicPr>
          <p:cNvPr id="514" name="vidéo-collée.png" descr="vidéo-collé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096698" y="5462049"/>
            <a:ext cx="398145" cy="398145"/>
          </a:xfrm>
          <a:prstGeom prst="rect">
            <a:avLst/>
          </a:prstGeom>
          <a:ln w="12700">
            <a:miter lim="400000"/>
          </a:ln>
        </p:spPr>
      </p:pic>
      <p:sp>
        <p:nvSpPr>
          <p:cNvPr id="515" name="But : S’assurer que le code fonctionne et que l’on ne « casse » rien qui fonctionnait."/>
          <p:cNvSpPr txBox="1"/>
          <p:nvPr/>
        </p:nvSpPr>
        <p:spPr>
          <a:xfrm>
            <a:off x="4569473" y="5452333"/>
            <a:ext cx="3133439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1200"/>
            </a:pPr>
            <a:r>
              <a:rPr b="1"/>
              <a:t>But</a:t>
            </a:r>
            <a:r>
              <a:t> : S’assurer que le code fonctionne et que l’on ne « casse » rien qui fonctionnait.</a:t>
            </a:r>
          </a:p>
        </p:txBody>
      </p:sp>
      <p:pic>
        <p:nvPicPr>
          <p:cNvPr id="516" name="vidéo-collée.png" descr="vidéo-collé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123608" y="5462049"/>
            <a:ext cx="398145" cy="398145"/>
          </a:xfrm>
          <a:prstGeom prst="rect">
            <a:avLst/>
          </a:prstGeom>
          <a:ln w="12700">
            <a:miter lim="400000"/>
          </a:ln>
        </p:spPr>
      </p:pic>
      <p:sp>
        <p:nvSpPr>
          <p:cNvPr id="517" name="But : Faciliter et normaliser la livraison du code."/>
          <p:cNvSpPr txBox="1"/>
          <p:nvPr/>
        </p:nvSpPr>
        <p:spPr>
          <a:xfrm>
            <a:off x="8587127" y="5536969"/>
            <a:ext cx="3133439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1200"/>
            </a:pPr>
            <a:r>
              <a:rPr b="1"/>
              <a:t>But</a:t>
            </a:r>
            <a:r>
              <a:t> : Faciliter et normaliser la livraison du code.</a:t>
            </a:r>
          </a:p>
        </p:txBody>
      </p:sp>
      <p:sp>
        <p:nvSpPr>
          <p:cNvPr id="518" name="Vérifier que chaque fonction de son code marche correctement…"/>
          <p:cNvSpPr txBox="1"/>
          <p:nvPr/>
        </p:nvSpPr>
        <p:spPr>
          <a:xfrm>
            <a:off x="3994768" y="2953661"/>
            <a:ext cx="3767722" cy="73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180473" indent="-180473" algn="just">
              <a:buSzPct val="100000"/>
              <a:buChar char="-"/>
              <a:defRPr sz="1400"/>
            </a:pPr>
            <a:r>
              <a:t>Vérifier que chaque fonction de son code marche correctement </a:t>
            </a:r>
          </a:p>
          <a:p>
            <a:pPr marL="180473" indent="-180473" algn="just">
              <a:buSzPct val="100000"/>
              <a:buChar char="-"/>
              <a:defRPr sz="1400"/>
            </a:pPr>
            <a:r>
              <a:t>Tester sur des cas classiques et des cas limites.</a:t>
            </a:r>
          </a:p>
        </p:txBody>
      </p:sp>
      <p:pic>
        <p:nvPicPr>
          <p:cNvPr id="519" name="vidéo-collée.png" descr="vidéo-collée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4405883" y="4063789"/>
            <a:ext cx="1132472" cy="1132472"/>
          </a:xfrm>
          <a:prstGeom prst="rect">
            <a:avLst/>
          </a:prstGeom>
          <a:ln w="12700">
            <a:miter lim="400000"/>
          </a:ln>
        </p:spPr>
      </p:pic>
      <p:pic>
        <p:nvPicPr>
          <p:cNvPr id="520" name="vidéo-collée.png" descr="vidéo-collée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6371376" y="4124872"/>
            <a:ext cx="853299" cy="1010306"/>
          </a:xfrm>
          <a:prstGeom prst="rect">
            <a:avLst/>
          </a:prstGeom>
          <a:ln w="12700">
            <a:miter lim="400000"/>
          </a:ln>
        </p:spPr>
      </p:pic>
      <p:sp>
        <p:nvSpPr>
          <p:cNvPr id="521" name="Construction de l’image contenant l’API ou d’un .zip ;…"/>
          <p:cNvSpPr txBox="1"/>
          <p:nvPr/>
        </p:nvSpPr>
        <p:spPr>
          <a:xfrm>
            <a:off x="8042855" y="2951829"/>
            <a:ext cx="3767722" cy="73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180473" indent="-180473" algn="just">
              <a:buSzPct val="100000"/>
              <a:buChar char="-"/>
              <a:defRPr sz="1400"/>
            </a:pPr>
            <a:r>
              <a:t>Construction de l’image contenant l’API ou d’un .zip ;</a:t>
            </a:r>
          </a:p>
          <a:p>
            <a:pPr marL="180473" indent="-180473" algn="just">
              <a:buSzPct val="100000"/>
              <a:buChar char="-"/>
              <a:defRPr sz="1400"/>
            </a:pPr>
            <a:r>
              <a:t>Stockage de l’artefact créé dans un répertoire.</a:t>
            </a:r>
          </a:p>
        </p:txBody>
      </p:sp>
      <p:pic>
        <p:nvPicPr>
          <p:cNvPr id="522" name="vidéo-collée.png" descr="vidéo-collée.png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9634939" y="4228917"/>
            <a:ext cx="583554" cy="583555"/>
          </a:xfrm>
          <a:prstGeom prst="rect">
            <a:avLst/>
          </a:prstGeom>
          <a:ln w="12700">
            <a:miter lim="400000"/>
          </a:ln>
        </p:spPr>
      </p:pic>
      <p:sp>
        <p:nvSpPr>
          <p:cNvPr id="523" name="DOCKER"/>
          <p:cNvSpPr txBox="1"/>
          <p:nvPr/>
        </p:nvSpPr>
        <p:spPr>
          <a:xfrm>
            <a:off x="8919324" y="4896996"/>
            <a:ext cx="2014784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200"/>
            </a:lvl1pPr>
          </a:lstStyle>
          <a:p>
            <a:pPr/>
            <a:r>
              <a:t>DOCKER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Espace réservé du pied de page 4"/>
          <p:cNvSpPr txBox="1"/>
          <p:nvPr/>
        </p:nvSpPr>
        <p:spPr>
          <a:xfrm>
            <a:off x="4211320" y="6502336"/>
            <a:ext cx="404452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Industrialisation IA</a:t>
            </a:r>
          </a:p>
        </p:txBody>
      </p:sp>
      <p:sp>
        <p:nvSpPr>
          <p:cNvPr id="528" name="Titr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Déploiement/Livraison en Continue : CD</a:t>
            </a:r>
          </a:p>
        </p:txBody>
      </p:sp>
      <p:sp>
        <p:nvSpPr>
          <p:cNvPr id="529" name="Espace réservé du contenu 6"/>
          <p:cNvSpPr txBox="1"/>
          <p:nvPr>
            <p:ph type="body" sz="quarter" idx="1"/>
          </p:nvPr>
        </p:nvSpPr>
        <p:spPr>
          <a:xfrm>
            <a:off x="1198087" y="1948246"/>
            <a:ext cx="5584498" cy="1030677"/>
          </a:xfrm>
          <a:prstGeom prst="rect">
            <a:avLst/>
          </a:prstGeom>
        </p:spPr>
        <p:txBody>
          <a:bodyPr anchor="ctr"/>
          <a:lstStyle/>
          <a:p>
            <a:pPr marL="339470" indent="-339470" algn="just" defTabSz="543153">
              <a:buSzPct val="100000"/>
              <a:buAutoNum type="arabicPeriod" startAt="1"/>
              <a:defRPr b="1" sz="1386"/>
            </a:pPr>
            <a:r>
              <a:t>tests de sécurité  Xray CVE : vulnérabilités de l’application + test d’injection de code dans les </a:t>
            </a:r>
          </a:p>
          <a:p>
            <a:pPr marL="339470" indent="-339470" algn="just" defTabSz="543153">
              <a:buSzPct val="100000"/>
              <a:buAutoNum type="arabicPeriod" startAt="1"/>
              <a:defRPr b="1" sz="1386"/>
            </a:pPr>
            <a:r>
              <a:t>déploiement de l’application dans un environnement </a:t>
            </a:r>
          </a:p>
          <a:p>
            <a:pPr marL="339470" indent="-339470" algn="just" defTabSz="543153">
              <a:buSzPct val="100000"/>
              <a:buAutoNum type="arabicPeriod" startAt="1"/>
              <a:defRPr b="1" sz="1386"/>
            </a:pPr>
            <a:r>
              <a:t>promotion vers environnements ultérieurs de DEV à PROD </a:t>
            </a:r>
          </a:p>
        </p:txBody>
      </p:sp>
      <p:sp>
        <p:nvSpPr>
          <p:cNvPr id="530" name="Espace réservé de la date 3"/>
          <p:cNvSpPr txBox="1"/>
          <p:nvPr/>
        </p:nvSpPr>
        <p:spPr>
          <a:xfrm>
            <a:off x="352637" y="6502336"/>
            <a:ext cx="27533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27.04.25</a:t>
            </a:r>
          </a:p>
        </p:txBody>
      </p:sp>
      <p:sp>
        <p:nvSpPr>
          <p:cNvPr id="531" name="Espace réservé du numéro de diapositive 5"/>
          <p:cNvSpPr txBox="1"/>
          <p:nvPr>
            <p:ph type="sldNum" sz="quarter" idx="2"/>
          </p:nvPr>
        </p:nvSpPr>
        <p:spPr>
          <a:xfrm>
            <a:off x="11600713" y="6502336"/>
            <a:ext cx="284371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532" name="Image 9" descr="Image 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3179" y="3505608"/>
            <a:ext cx="5604167" cy="255336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3" name="Image 11" descr="Image 1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492869" y="1389689"/>
            <a:ext cx="4055664" cy="477980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Espace réservé du pied de page 4"/>
          <p:cNvSpPr txBox="1"/>
          <p:nvPr/>
        </p:nvSpPr>
        <p:spPr>
          <a:xfrm>
            <a:off x="4211320" y="6502336"/>
            <a:ext cx="404452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Industrialisation IA</a:t>
            </a:r>
          </a:p>
        </p:txBody>
      </p:sp>
      <p:sp>
        <p:nvSpPr>
          <p:cNvPr id="538" name="Espace réservé de la date 3"/>
          <p:cNvSpPr txBox="1"/>
          <p:nvPr/>
        </p:nvSpPr>
        <p:spPr>
          <a:xfrm>
            <a:off x="352637" y="6502336"/>
            <a:ext cx="27533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27.04.25</a:t>
            </a:r>
          </a:p>
        </p:txBody>
      </p:sp>
      <p:sp>
        <p:nvSpPr>
          <p:cNvPr id="539" name="Espace réservé du numéro de diapositive 5"/>
          <p:cNvSpPr txBox="1"/>
          <p:nvPr>
            <p:ph type="sldNum" sz="quarter" idx="2"/>
          </p:nvPr>
        </p:nvSpPr>
        <p:spPr>
          <a:xfrm>
            <a:off x="11600713" y="6502336"/>
            <a:ext cx="284371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542" name="Espace réservé du contenu 2"/>
          <p:cNvGrpSpPr/>
          <p:nvPr/>
        </p:nvGrpSpPr>
        <p:grpSpPr>
          <a:xfrm>
            <a:off x="1017269" y="1600200"/>
            <a:ext cx="10149842" cy="4320000"/>
            <a:chOff x="0" y="0"/>
            <a:chExt cx="10149840" cy="4319999"/>
          </a:xfrm>
        </p:grpSpPr>
        <p:sp>
          <p:nvSpPr>
            <p:cNvPr id="540" name="Rectangle"/>
            <p:cNvSpPr/>
            <p:nvPr/>
          </p:nvSpPr>
          <p:spPr>
            <a:xfrm>
              <a:off x="-1" y="0"/>
              <a:ext cx="10149842" cy="4320000"/>
            </a:xfrm>
            <a:prstGeom prst="rect">
              <a:avLst/>
            </a:prstGeom>
            <a:solidFill>
              <a:srgbClr val="E2F6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spcBef>
                  <a:spcPts val="300"/>
                </a:spcBef>
                <a:defRPr sz="14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</a:p>
          </p:txBody>
        </p:sp>
        <p:sp>
          <p:nvSpPr>
            <p:cNvPr id="541" name="Application à l’IA"/>
            <p:cNvSpPr txBox="1"/>
            <p:nvPr/>
          </p:nvSpPr>
          <p:spPr>
            <a:xfrm>
              <a:off x="54863" y="0"/>
              <a:ext cx="10040113" cy="4320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4864" tIns="54864" rIns="54864" bIns="54864" numCol="1" anchor="ctr">
              <a:normAutofit fontScale="100000" lnSpcReduction="0"/>
            </a:bodyPr>
            <a:lstStyle>
              <a:lvl1pPr algn="ctr" defTabSz="457200">
                <a:spcBef>
                  <a:spcPts val="1000"/>
                </a:spcBef>
                <a:defRPr b="1" sz="4300"/>
              </a:lvl1pPr>
            </a:lstStyle>
            <a:p>
              <a:pPr/>
              <a:r>
                <a:t>Application à l’IA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Espace réservé du pied de page 4"/>
          <p:cNvSpPr txBox="1"/>
          <p:nvPr/>
        </p:nvSpPr>
        <p:spPr>
          <a:xfrm>
            <a:off x="4211320" y="6502336"/>
            <a:ext cx="404452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Industrialisation IA</a:t>
            </a:r>
          </a:p>
        </p:txBody>
      </p:sp>
      <p:sp>
        <p:nvSpPr>
          <p:cNvPr id="545" name="Titr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MLOps : suivre les performances de l’IA</a:t>
            </a:r>
          </a:p>
        </p:txBody>
      </p:sp>
      <p:sp>
        <p:nvSpPr>
          <p:cNvPr id="546" name="Espace réservé de la date 3"/>
          <p:cNvSpPr txBox="1"/>
          <p:nvPr/>
        </p:nvSpPr>
        <p:spPr>
          <a:xfrm>
            <a:off x="352637" y="6502336"/>
            <a:ext cx="27533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27.04.25</a:t>
            </a:r>
          </a:p>
        </p:txBody>
      </p:sp>
      <p:sp>
        <p:nvSpPr>
          <p:cNvPr id="547" name="Espace réservé du numéro de diapositive 5"/>
          <p:cNvSpPr txBox="1"/>
          <p:nvPr>
            <p:ph type="sldNum" sz="quarter" idx="2"/>
          </p:nvPr>
        </p:nvSpPr>
        <p:spPr>
          <a:xfrm>
            <a:off x="11600713" y="6502336"/>
            <a:ext cx="284371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548" name="Image 4" descr="Imag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0508" y="2061810"/>
            <a:ext cx="5488600" cy="3936111"/>
          </a:xfrm>
          <a:prstGeom prst="rect">
            <a:avLst/>
          </a:prstGeom>
          <a:ln w="12700">
            <a:miter lim="400000"/>
          </a:ln>
        </p:spPr>
      </p:pic>
      <p:sp>
        <p:nvSpPr>
          <p:cNvPr id="549" name="Suivi et monitoring du drift en production…"/>
          <p:cNvSpPr txBox="1"/>
          <p:nvPr/>
        </p:nvSpPr>
        <p:spPr>
          <a:xfrm>
            <a:off x="1496797" y="1476757"/>
            <a:ext cx="3947069" cy="53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600"/>
            </a:pPr>
            <a:r>
              <a:t>Suivi et monitoring du drift en production</a:t>
            </a:r>
          </a:p>
          <a:p>
            <a:pPr>
              <a:defRPr i="1" sz="1400"/>
            </a:pPr>
            <a:r>
              <a:t>Ne pas laisser son application dépérir en production…</a:t>
            </a:r>
          </a:p>
        </p:txBody>
      </p:sp>
      <p:pic>
        <p:nvPicPr>
          <p:cNvPr id="550" name="vidéo-collée.png" descr="vidéo-collé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61574" y="1473306"/>
            <a:ext cx="541701" cy="541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51" name="vidéo-collée.png" descr="vidéo-collé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512271" y="2397239"/>
            <a:ext cx="2183361" cy="1310017"/>
          </a:xfrm>
          <a:prstGeom prst="rect">
            <a:avLst/>
          </a:prstGeom>
          <a:ln w="12700">
            <a:miter lim="400000"/>
          </a:ln>
        </p:spPr>
      </p:pic>
      <p:sp>
        <p:nvSpPr>
          <p:cNvPr id="552" name="Recueillir des retours des utilisateurs :…"/>
          <p:cNvSpPr txBox="1"/>
          <p:nvPr/>
        </p:nvSpPr>
        <p:spPr>
          <a:xfrm>
            <a:off x="6334531" y="2718544"/>
            <a:ext cx="3851103" cy="667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400"/>
            </a:pPr>
            <a:r>
              <a:t>Recueillir des retours des utilisateurs : </a:t>
            </a:r>
          </a:p>
          <a:p>
            <a:pPr>
              <a:defRPr i="1" sz="1200"/>
            </a:pPr>
            <a:r>
              <a:t>Pas possible : un fraudeur ne va pas faire un feedback</a:t>
            </a:r>
          </a:p>
          <a:p>
            <a:pPr>
              <a:defRPr i="1" sz="1200"/>
            </a:pPr>
            <a:r>
              <a:t>A prendre en compte dès la conception du projet</a:t>
            </a:r>
          </a:p>
        </p:txBody>
      </p:sp>
      <p:sp>
        <p:nvSpPr>
          <p:cNvPr id="553" name="Surveiller la cohérence statistique d’un modèle d’IA / ML :…"/>
          <p:cNvSpPr txBox="1"/>
          <p:nvPr/>
        </p:nvSpPr>
        <p:spPr>
          <a:xfrm>
            <a:off x="7868656" y="4286524"/>
            <a:ext cx="3851104" cy="896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b="1" sz="1400"/>
            </a:pPr>
            <a:r>
              <a:t>Surveiller la cohérence statistique d’un modèle d’IA / ML :</a:t>
            </a:r>
          </a:p>
          <a:p>
            <a:pPr algn="r">
              <a:defRPr i="1" sz="1200"/>
            </a:pPr>
            <a:r>
              <a:t>Attention aux données plus représentatives de la réalité</a:t>
            </a:r>
          </a:p>
          <a:p>
            <a:pPr algn="r">
              <a:defRPr i="1" sz="1200"/>
            </a:pPr>
            <a:r>
              <a:t>Nécessite un ré-entrainement ou des correctifs.</a:t>
            </a:r>
          </a:p>
        </p:txBody>
      </p:sp>
      <p:pic>
        <p:nvPicPr>
          <p:cNvPr id="554" name="vidéo-collée.png" descr="vidéo-collée.png"/>
          <p:cNvPicPr>
            <a:picLocks noChangeAspect="1"/>
          </p:cNvPicPr>
          <p:nvPr/>
        </p:nvPicPr>
        <p:blipFill>
          <a:blip r:embed="rId6">
            <a:extLst/>
          </a:blip>
          <a:srcRect l="26570" t="0" r="26570" b="0"/>
          <a:stretch>
            <a:fillRect/>
          </a:stretch>
        </p:blipFill>
        <p:spPr>
          <a:xfrm>
            <a:off x="6509731" y="4206285"/>
            <a:ext cx="990136" cy="105649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Espace réservé du pied de page 4"/>
          <p:cNvSpPr txBox="1"/>
          <p:nvPr/>
        </p:nvSpPr>
        <p:spPr>
          <a:xfrm>
            <a:off x="4211320" y="6502336"/>
            <a:ext cx="404452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Industrialisation IA</a:t>
            </a:r>
          </a:p>
        </p:txBody>
      </p:sp>
      <p:sp>
        <p:nvSpPr>
          <p:cNvPr id="559" name="Titr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MLOps : pipeline d’IA</a:t>
            </a:r>
          </a:p>
        </p:txBody>
      </p:sp>
      <p:sp>
        <p:nvSpPr>
          <p:cNvPr id="560" name="Espace réservé de la date 3"/>
          <p:cNvSpPr txBox="1"/>
          <p:nvPr/>
        </p:nvSpPr>
        <p:spPr>
          <a:xfrm>
            <a:off x="352637" y="6502336"/>
            <a:ext cx="27533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27.04.25</a:t>
            </a:r>
          </a:p>
        </p:txBody>
      </p:sp>
      <p:sp>
        <p:nvSpPr>
          <p:cNvPr id="561" name="Espace réservé du numéro de diapositive 5"/>
          <p:cNvSpPr txBox="1"/>
          <p:nvPr>
            <p:ph type="sldNum" sz="quarter" idx="2"/>
          </p:nvPr>
        </p:nvSpPr>
        <p:spPr>
          <a:xfrm>
            <a:off x="11600713" y="6502336"/>
            <a:ext cx="284371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562" name="Image 4" descr="Imag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591168" y="1935580"/>
            <a:ext cx="6135101" cy="4077454"/>
          </a:xfrm>
          <a:prstGeom prst="rect">
            <a:avLst/>
          </a:prstGeom>
          <a:ln w="12700">
            <a:miter lim="400000"/>
          </a:ln>
        </p:spPr>
      </p:pic>
      <p:pic>
        <p:nvPicPr>
          <p:cNvPr id="563" name="vidéo-collée.png" descr="vidéo-collé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52141" y="1711982"/>
            <a:ext cx="634365" cy="634365"/>
          </a:xfrm>
          <a:prstGeom prst="rect">
            <a:avLst/>
          </a:prstGeom>
          <a:ln w="12700">
            <a:miter lim="400000"/>
          </a:ln>
        </p:spPr>
      </p:pic>
      <p:sp>
        <p:nvSpPr>
          <p:cNvPr id="564" name="Pipelines d’IA…"/>
          <p:cNvSpPr txBox="1"/>
          <p:nvPr/>
        </p:nvSpPr>
        <p:spPr>
          <a:xfrm>
            <a:off x="1355926" y="1790712"/>
            <a:ext cx="2513147" cy="476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400"/>
            </a:pPr>
            <a:r>
              <a:t>Pipelines d’IA</a:t>
            </a:r>
          </a:p>
          <a:p>
            <a:pPr>
              <a:defRPr i="1" sz="1200"/>
            </a:pPr>
            <a:r>
              <a:t>Entrainement automatique de modèles</a:t>
            </a:r>
          </a:p>
        </p:txBody>
      </p:sp>
      <p:sp>
        <p:nvSpPr>
          <p:cNvPr id="565" name="- Script d’entraînement d’un modèle d’IA, prévu de A à Z.…"/>
          <p:cNvSpPr txBox="1"/>
          <p:nvPr/>
        </p:nvSpPr>
        <p:spPr>
          <a:xfrm>
            <a:off x="507063" y="2673512"/>
            <a:ext cx="4210873" cy="1195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400"/>
            </a:pPr>
            <a:r>
              <a:t>- Script d’entraînement d’un modèle d’IA, prévu de A à Z.</a:t>
            </a:r>
          </a:p>
          <a:p>
            <a:pPr>
              <a:defRPr sz="1400"/>
            </a:pPr>
            <a:r>
              <a:t>- Peut être déclenché automatiquement ou à dates régulières</a:t>
            </a:r>
          </a:p>
          <a:p>
            <a:pPr>
              <a:defRPr sz="1400"/>
            </a:pPr>
            <a:r>
              <a:t>- Permet d’itérer rapidement et de créer de nouveaux cas d’usage similaire</a:t>
            </a:r>
          </a:p>
        </p:txBody>
      </p:sp>
      <p:pic>
        <p:nvPicPr>
          <p:cNvPr id="566" name="vidéo-collée.png" descr="vidéo-collé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00535" y="4828387"/>
            <a:ext cx="537578" cy="537578"/>
          </a:xfrm>
          <a:prstGeom prst="rect">
            <a:avLst/>
          </a:prstGeom>
          <a:ln w="12700">
            <a:miter lim="400000"/>
          </a:ln>
        </p:spPr>
      </p:pic>
      <p:sp>
        <p:nvSpPr>
          <p:cNvPr id="567" name="Script d’entrainement…"/>
          <p:cNvSpPr txBox="1"/>
          <p:nvPr/>
        </p:nvSpPr>
        <p:spPr>
          <a:xfrm>
            <a:off x="1214461" y="4858723"/>
            <a:ext cx="3378881" cy="476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400"/>
            </a:pPr>
            <a:r>
              <a:t>Script d’entrainement</a:t>
            </a:r>
          </a:p>
          <a:p>
            <a:pPr>
              <a:defRPr i="1" sz="1200"/>
            </a:pPr>
            <a:r>
              <a:t>Création de blocs thématiques réutilisables au besoin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1_Thème Office">
  <a:themeElements>
    <a:clrScheme name="1_Thèm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_Thème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1_Thèm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1_Thème Office">
  <a:themeElements>
    <a:clrScheme name="1_Thèm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_Thème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1_Thèm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